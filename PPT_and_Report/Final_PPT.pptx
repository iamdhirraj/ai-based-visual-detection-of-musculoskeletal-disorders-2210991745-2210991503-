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9144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46">
          <p15:clr>
            <a:srgbClr val="A4A3A4"/>
          </p15:clr>
        </p15:guide>
      </p15:sldGuideLst>
    </p:ext>
    <p:ext uri="GoogleSlidesCustomDataVersion2">
      <go:slidesCustomData xmlns:go="http://customooxmlschemas.google.com/" r:id="rId22" roundtripDataSignature="AMtx7mjCZaem5sQvk+BZyPC+3Ki0V/Wz3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46"/>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76600" cy="5365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281488" y="0"/>
            <a:ext cx="3276600" cy="53657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 name="Google Shape;81;p1: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82" name="Google Shape;82;p1:notes"/>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 name="Google Shape;93;p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8: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9: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10: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1: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12: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2: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13: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13: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4: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5: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15: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5: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6: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p1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0"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1" name="Shape 31"/>
        <p:cNvGrpSpPr/>
        <p:nvPr/>
      </p:nvGrpSpPr>
      <p:grpSpPr>
        <a:xfrm>
          <a:off x="0" y="0"/>
          <a:ext cx="0" cy="0"/>
          <a:chOff x="0" y="0"/>
          <a:chExt cx="0" cy="0"/>
        </a:xfrm>
      </p:grpSpPr>
      <p:sp>
        <p:nvSpPr>
          <p:cNvPr id="32" name="Google Shape;32;p1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9"/>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4" name="Shape 34"/>
        <p:cNvGrpSpPr/>
        <p:nvPr/>
      </p:nvGrpSpPr>
      <p:grpSpPr>
        <a:xfrm>
          <a:off x="0" y="0"/>
          <a:ext cx="0" cy="0"/>
          <a:chOff x="0" y="0"/>
          <a:chExt cx="0" cy="0"/>
        </a:xfrm>
      </p:grpSpPr>
      <p:sp>
        <p:nvSpPr>
          <p:cNvPr id="35" name="Google Shape;35;p20"/>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7" name="Shape 37"/>
        <p:cNvGrpSpPr/>
        <p:nvPr/>
      </p:nvGrpSpPr>
      <p:grpSpPr>
        <a:xfrm>
          <a:off x="0" y="0"/>
          <a:ext cx="0" cy="0"/>
          <a:chOff x="0" y="0"/>
          <a:chExt cx="0" cy="0"/>
        </a:xfrm>
      </p:grpSpPr>
      <p:sp>
        <p:nvSpPr>
          <p:cNvPr id="38" name="Google Shape;38;p2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1"/>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22"/>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3" name="Shape 43"/>
        <p:cNvGrpSpPr/>
        <p:nvPr/>
      </p:nvGrpSpPr>
      <p:grpSpPr>
        <a:xfrm>
          <a:off x="0" y="0"/>
          <a:ext cx="0" cy="0"/>
          <a:chOff x="0" y="0"/>
          <a:chExt cx="0" cy="0"/>
        </a:xfrm>
      </p:grpSpPr>
      <p:sp>
        <p:nvSpPr>
          <p:cNvPr id="44" name="Google Shape;44;p23"/>
          <p:cNvSpPr txBox="1"/>
          <p:nvPr>
            <p:ph idx="1" type="subTitle"/>
          </p:nvPr>
        </p:nvSpPr>
        <p:spPr>
          <a:xfrm>
            <a:off x="0" y="0"/>
            <a:ext cx="5486040" cy="4238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5" name="Shape 45"/>
        <p:cNvGrpSpPr/>
        <p:nvPr/>
      </p:nvGrpSpPr>
      <p:grpSpPr>
        <a:xfrm>
          <a:off x="0" y="0"/>
          <a:ext cx="0" cy="0"/>
          <a:chOff x="0" y="0"/>
          <a:chExt cx="0" cy="0"/>
        </a:xfrm>
      </p:grpSpPr>
      <p:sp>
        <p:nvSpPr>
          <p:cNvPr id="46" name="Google Shape;46;p24"/>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4"/>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4"/>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24"/>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0" name="Shape 50"/>
        <p:cNvGrpSpPr/>
        <p:nvPr/>
      </p:nvGrpSpPr>
      <p:grpSpPr>
        <a:xfrm>
          <a:off x="0" y="0"/>
          <a:ext cx="0" cy="0"/>
          <a:chOff x="0" y="0"/>
          <a:chExt cx="0" cy="0"/>
        </a:xfrm>
      </p:grpSpPr>
      <p:sp>
        <p:nvSpPr>
          <p:cNvPr id="51" name="Google Shape;51;p25"/>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25"/>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25"/>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55" name="Shape 55"/>
        <p:cNvGrpSpPr/>
        <p:nvPr/>
      </p:nvGrpSpPr>
      <p:grpSpPr>
        <a:xfrm>
          <a:off x="0" y="0"/>
          <a:ext cx="0" cy="0"/>
          <a:chOff x="0" y="0"/>
          <a:chExt cx="0" cy="0"/>
        </a:xfrm>
      </p:grpSpPr>
      <p:sp>
        <p:nvSpPr>
          <p:cNvPr id="56" name="Google Shape;56;p2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6"/>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26"/>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26"/>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60" name="Shape 60"/>
        <p:cNvGrpSpPr/>
        <p:nvPr/>
      </p:nvGrpSpPr>
      <p:grpSpPr>
        <a:xfrm>
          <a:off x="0" y="0"/>
          <a:ext cx="0" cy="0"/>
          <a:chOff x="0" y="0"/>
          <a:chExt cx="0" cy="0"/>
        </a:xfrm>
      </p:grpSpPr>
      <p:sp>
        <p:nvSpPr>
          <p:cNvPr id="61" name="Google Shape;61;p2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7"/>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7"/>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64" name="Shape 64"/>
        <p:cNvGrpSpPr/>
        <p:nvPr/>
      </p:nvGrpSpPr>
      <p:grpSpPr>
        <a:xfrm>
          <a:off x="0" y="0"/>
          <a:ext cx="0" cy="0"/>
          <a:chOff x="0" y="0"/>
          <a:chExt cx="0" cy="0"/>
        </a:xfrm>
      </p:grpSpPr>
      <p:sp>
        <p:nvSpPr>
          <p:cNvPr id="65" name="Google Shape;65;p2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8"/>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28"/>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28"/>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8"/>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70" name="Shape 70"/>
        <p:cNvGrpSpPr/>
        <p:nvPr/>
      </p:nvGrpSpPr>
      <p:grpSpPr>
        <a:xfrm>
          <a:off x="0" y="0"/>
          <a:ext cx="0" cy="0"/>
          <a:chOff x="0" y="0"/>
          <a:chExt cx="0" cy="0"/>
        </a:xfrm>
      </p:grpSpPr>
      <p:sp>
        <p:nvSpPr>
          <p:cNvPr id="71" name="Google Shape;71;p2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9"/>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29"/>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29"/>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9"/>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9"/>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9"/>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10.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1.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7"/>
          <p:cNvSpPr/>
          <p:nvPr/>
        </p:nvSpPr>
        <p:spPr>
          <a:xfrm>
            <a:off x="0" y="0"/>
            <a:ext cx="914364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17"/>
          <p:cNvSpPr/>
          <p:nvPr/>
        </p:nvSpPr>
        <p:spPr>
          <a:xfrm flipH="1" rot="10800000">
            <a:off x="0" y="6704640"/>
            <a:ext cx="9143640" cy="197640"/>
          </a:xfrm>
          <a:prstGeom prst="rect">
            <a:avLst/>
          </a:prstGeom>
          <a:solidFill>
            <a:srgbClr val="FF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12" name="Google Shape;12;p17"/>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pic>
        <p:nvPicPr>
          <p:cNvPr descr="LOGO.gif" id="13" name="Google Shape;13;p17"/>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14" name="Google Shape;14;p17"/>
          <p:cNvGrpSpPr/>
          <p:nvPr/>
        </p:nvGrpSpPr>
        <p:grpSpPr>
          <a:xfrm>
            <a:off x="6146640" y="0"/>
            <a:ext cx="2997000" cy="875880"/>
            <a:chOff x="6146640" y="0"/>
            <a:chExt cx="2997000" cy="875880"/>
          </a:xfrm>
        </p:grpSpPr>
        <p:sp>
          <p:nvSpPr>
            <p:cNvPr id="15" name="Google Shape;15;p17"/>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16" name="Google Shape;16;p17"/>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17" name="Google Shape;17;p17"/>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logo.jpg" id="18" name="Google Shape;18;p17"/>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pic>
        <p:nvPicPr>
          <p:cNvPr descr="LOGO.gif" id="19" name="Google Shape;19;p17"/>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20" name="Google Shape;20;p17"/>
          <p:cNvGrpSpPr/>
          <p:nvPr/>
        </p:nvGrpSpPr>
        <p:grpSpPr>
          <a:xfrm>
            <a:off x="6146640" y="0"/>
            <a:ext cx="2997000" cy="875880"/>
            <a:chOff x="6146640" y="0"/>
            <a:chExt cx="2997000" cy="875880"/>
          </a:xfrm>
        </p:grpSpPr>
        <p:sp>
          <p:nvSpPr>
            <p:cNvPr id="21" name="Google Shape;21;p17"/>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22" name="Google Shape;22;p17"/>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23" name="Google Shape;23;p17"/>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logo.jpg" id="24" name="Google Shape;24;p17"/>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sp>
        <p:nvSpPr>
          <p:cNvPr id="25" name="Google Shape;25;p17"/>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 name="Google Shape;26;p17"/>
          <p:cNvSpPr txBox="1"/>
          <p:nvPr>
            <p:ph idx="1" type="body"/>
          </p:nvPr>
        </p:nvSpPr>
        <p:spPr>
          <a:xfrm>
            <a:off x="457200" y="1371600"/>
            <a:ext cx="8229240" cy="452556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17"/>
          <p:cNvSpPr txBox="1"/>
          <p:nvPr>
            <p:ph idx="10" type="dt"/>
          </p:nvPr>
        </p:nvSpPr>
        <p:spPr>
          <a:xfrm>
            <a:off x="457200" y="6356520"/>
            <a:ext cx="213336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8" name="Google Shape;28;p17"/>
          <p:cNvSpPr txBox="1"/>
          <p:nvPr>
            <p:ph idx="11" type="ftr"/>
          </p:nvPr>
        </p:nvSpPr>
        <p:spPr>
          <a:xfrm>
            <a:off x="3124080" y="6356520"/>
            <a:ext cx="289512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9" name="Google Shape;29;p17"/>
          <p:cNvSpPr txBox="1"/>
          <p:nvPr>
            <p:ph idx="12" type="sldNum"/>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176463" y="978569"/>
            <a:ext cx="9496925" cy="5879432"/>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2000"/>
              <a:buFont typeface="Arial"/>
              <a:buNone/>
            </a:pPr>
            <a:r>
              <a:rPr b="1" i="0" lang="en-US" sz="2000" u="sng" cap="none" strike="noStrike">
                <a:solidFill>
                  <a:schemeClr val="dk1"/>
                </a:solidFill>
                <a:latin typeface="Times New Roman"/>
                <a:ea typeface="Times New Roman"/>
                <a:cs typeface="Times New Roman"/>
                <a:sym typeface="Times New Roman"/>
              </a:rPr>
              <a:t>Project Presentation of Co-Op Project Industry (Module-2)(22CS421)</a:t>
            </a:r>
            <a:endParaRPr b="0" i="0" sz="1400" u="none" cap="none" strike="noStrike">
              <a:solidFill>
                <a:srgbClr val="000000"/>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2000"/>
              <a:buFont typeface="Arial"/>
              <a:buNone/>
            </a:pPr>
            <a:r>
              <a:rPr b="1" i="0" lang="en-US" sz="2000" u="sng" cap="none" strike="noStrike">
                <a:solidFill>
                  <a:schemeClr val="dk1"/>
                </a:solidFill>
                <a:latin typeface="Times New Roman"/>
                <a:ea typeface="Times New Roman"/>
                <a:cs typeface="Times New Roman"/>
                <a:sym typeface="Times New Roman"/>
              </a:rPr>
              <a:t>on</a:t>
            </a:r>
            <a:endParaRPr b="1" i="0" sz="2000" u="none" cap="none" strike="noStrike">
              <a:solidFill>
                <a:schemeClr val="dk1"/>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None/>
            </a:pPr>
            <a:r>
              <a:rPr b="1" i="0" lang="en-US" sz="1800" u="sng" cap="none" strike="noStrike">
                <a:solidFill>
                  <a:srgbClr val="000000"/>
                </a:solidFill>
                <a:latin typeface="Arial"/>
                <a:ea typeface="Arial"/>
                <a:cs typeface="Arial"/>
                <a:sym typeface="Arial"/>
              </a:rPr>
              <a:t>AI-Based Visual Detection of Musculoskeletal Disorders with Personalized </a:t>
            </a:r>
            <a:endParaRPr sz="1800"/>
          </a:p>
          <a:p>
            <a:pPr indent="0" lvl="0" marL="0" marR="0" rtl="0" algn="ctr">
              <a:lnSpc>
                <a:spcPct val="150000"/>
              </a:lnSpc>
              <a:spcBef>
                <a:spcPts val="0"/>
              </a:spcBef>
              <a:spcAft>
                <a:spcPts val="0"/>
              </a:spcAft>
              <a:buNone/>
            </a:pPr>
            <a:r>
              <a:rPr b="1" i="0" lang="en-US" sz="1800" u="sng" cap="none" strike="noStrike">
                <a:solidFill>
                  <a:srgbClr val="000000"/>
                </a:solidFill>
                <a:latin typeface="Arial"/>
                <a:ea typeface="Arial"/>
                <a:cs typeface="Arial"/>
                <a:sym typeface="Arial"/>
              </a:rPr>
              <a:t>Exercise Recommendation</a:t>
            </a:r>
            <a:endParaRPr b="1" i="0" sz="1800" u="sng" cap="none" strike="noStrike">
              <a:solidFill>
                <a:srgbClr val="000000"/>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a:t>
            </a:r>
            <a:r>
              <a:rPr b="0" i="0" lang="en-US" sz="1900" u="none" cap="none" strike="noStrike">
                <a:solidFill>
                  <a:schemeClr val="dk1"/>
                </a:solidFill>
                <a:latin typeface="Times New Roman"/>
                <a:ea typeface="Times New Roman"/>
                <a:cs typeface="Times New Roman"/>
                <a:sym typeface="Times New Roman"/>
              </a:rPr>
              <a:t>Dheeraj Sharma  2210991503</a:t>
            </a:r>
            <a:endParaRPr b="0" i="0" sz="1900" u="none" cap="none" strike="noStrike">
              <a:solidFill>
                <a:schemeClr val="dk1"/>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Clr>
                <a:srgbClr val="000000"/>
              </a:buClr>
              <a:buSzPts val="1800"/>
              <a:buFont typeface="Arial"/>
              <a:buNone/>
            </a:pPr>
            <a:r>
              <a:rPr b="0" i="0" lang="en-US" sz="1900" u="none" cap="none" strike="noStrike">
                <a:solidFill>
                  <a:schemeClr val="dk1"/>
                </a:solidFill>
                <a:latin typeface="Times New Roman"/>
                <a:ea typeface="Times New Roman"/>
                <a:cs typeface="Times New Roman"/>
                <a:sym typeface="Times New Roman"/>
              </a:rPr>
              <a:t>   Kapil       2210991745</a:t>
            </a:r>
            <a:endParaRPr b="0" i="0" sz="1900" u="none" cap="none" strike="noStrike">
              <a:solidFill>
                <a:schemeClr val="dk1"/>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Clr>
                <a:srgbClr val="000000"/>
              </a:buClr>
              <a:buSzPts val="1900"/>
              <a:buFont typeface="Arial"/>
              <a:buNone/>
            </a:pPr>
            <a:r>
              <a:rPr b="1" i="0" lang="en-US" sz="1900" u="sng" cap="none" strike="noStrike">
                <a:solidFill>
                  <a:schemeClr val="dk1"/>
                </a:solidFill>
                <a:latin typeface="Times New Roman"/>
                <a:ea typeface="Times New Roman"/>
                <a:cs typeface="Times New Roman"/>
                <a:sym typeface="Times New Roman"/>
              </a:rPr>
              <a:t>Supervised by</a:t>
            </a:r>
            <a:r>
              <a:rPr b="1" i="0" lang="en-US" sz="1900" u="none" cap="none" strike="noStrike">
                <a:solidFill>
                  <a:schemeClr val="dk1"/>
                </a:solidFill>
                <a:latin typeface="Times New Roman"/>
                <a:ea typeface="Times New Roman"/>
                <a:cs typeface="Times New Roman"/>
                <a:sym typeface="Times New Roman"/>
              </a:rPr>
              <a:t>:-</a:t>
            </a:r>
            <a:endParaRPr b="0" i="0" sz="1400" u="none" cap="none" strike="noStrike">
              <a:solidFill>
                <a:schemeClr val="dk1"/>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900"/>
              <a:buFont typeface="Arial"/>
              <a:buNone/>
            </a:pPr>
            <a:r>
              <a:rPr b="0" i="0" lang="en-US" sz="1900" u="none" cap="none" strike="noStrike">
                <a:solidFill>
                  <a:schemeClr val="dk1"/>
                </a:solidFill>
                <a:latin typeface="Times New Roman"/>
                <a:ea typeface="Times New Roman"/>
                <a:cs typeface="Times New Roman"/>
                <a:sym typeface="Times New Roman"/>
              </a:rPr>
              <a:t>Simarjit  Kaur</a:t>
            </a:r>
            <a:endParaRPr b="0" i="0" sz="1400" u="none" cap="none" strike="noStrike">
              <a:solidFill>
                <a:srgbClr val="000000"/>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Chitkara University, Punjab</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ph type="title"/>
          </p:nvPr>
        </p:nvSpPr>
        <p:spPr>
          <a:xfrm>
            <a:off x="0" y="0"/>
            <a:ext cx="5486100" cy="914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3200"/>
              <a:buFont typeface="Times New Roman"/>
              <a:buNone/>
            </a:pPr>
            <a:r>
              <a:rPr lang="en-US" sz="3200">
                <a:latin typeface="Times New Roman"/>
                <a:ea typeface="Times New Roman"/>
                <a:cs typeface="Times New Roman"/>
                <a:sym typeface="Times New Roman"/>
              </a:rPr>
              <a:t>    Content</a:t>
            </a:r>
            <a:endParaRPr/>
          </a:p>
        </p:txBody>
      </p:sp>
      <p:sp>
        <p:nvSpPr>
          <p:cNvPr id="90" name="Google Shape;90;p2"/>
          <p:cNvSpPr txBox="1"/>
          <p:nvPr>
            <p:ph idx="1" type="subTitle"/>
          </p:nvPr>
        </p:nvSpPr>
        <p:spPr>
          <a:xfrm>
            <a:off x="318025" y="1027800"/>
            <a:ext cx="7922700" cy="53565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1B2022"/>
              </a:buClr>
              <a:buSzPts val="1800"/>
              <a:buFont typeface="Times New Roman"/>
              <a:buNone/>
            </a:pPr>
            <a:r>
              <a:rPr b="0" i="0" lang="en-US" sz="1800" u="none" cap="none" strike="noStrike">
                <a:solidFill>
                  <a:srgbClr val="1B2022"/>
                </a:solidFill>
                <a:latin typeface="Times New Roman"/>
                <a:ea typeface="Times New Roman"/>
                <a:cs typeface="Times New Roman"/>
                <a:sym typeface="Times New Roman"/>
              </a:rPr>
              <a:t>1) </a:t>
            </a:r>
            <a:r>
              <a:rPr lang="en-US" sz="1800">
                <a:solidFill>
                  <a:srgbClr val="1B2022"/>
                </a:solidFill>
                <a:latin typeface="Times New Roman"/>
                <a:ea typeface="Times New Roman"/>
                <a:cs typeface="Times New Roman"/>
                <a:sym typeface="Times New Roman"/>
              </a:rPr>
              <a:t>Introduction to AI-Based Musculoskeletal Disorder Detection</a:t>
            </a:r>
            <a:endParaRPr/>
          </a:p>
          <a:p>
            <a:pPr indent="-342900" lvl="0" marL="457200" marR="0" rtl="0" algn="just">
              <a:lnSpc>
                <a:spcPct val="100000"/>
              </a:lnSpc>
              <a:spcBef>
                <a:spcPts val="0"/>
              </a:spcBef>
              <a:spcAft>
                <a:spcPts val="0"/>
              </a:spcAft>
              <a:buClr>
                <a:schemeClr val="dk1"/>
              </a:buClr>
              <a:buSzPts val="1800"/>
              <a:buFont typeface="Arial"/>
              <a:buNone/>
            </a:pPr>
            <a:r>
              <a:t/>
            </a:r>
            <a:endParaRPr b="0" i="0" sz="1800" u="none" cap="none" strike="noStrike">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rPr b="0" i="0" lang="en-US" sz="1800" u="none" cap="none" strike="noStrike">
                <a:solidFill>
                  <a:srgbClr val="1B2022"/>
                </a:solidFill>
                <a:latin typeface="Times New Roman"/>
                <a:ea typeface="Times New Roman"/>
                <a:cs typeface="Times New Roman"/>
                <a:sym typeface="Times New Roman"/>
              </a:rPr>
              <a:t>2) </a:t>
            </a:r>
            <a:r>
              <a:rPr lang="en-US" sz="1800">
                <a:solidFill>
                  <a:srgbClr val="1B2022"/>
                </a:solidFill>
                <a:latin typeface="Times New Roman"/>
                <a:ea typeface="Times New Roman"/>
                <a:cs typeface="Times New Roman"/>
                <a:sym typeface="Times New Roman"/>
              </a:rPr>
              <a:t>System Overview and Functional Responsibilities</a:t>
            </a:r>
            <a:endParaRPr/>
          </a:p>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rPr b="0" i="0" lang="en-US" sz="1800" u="none" cap="none" strike="noStrike">
                <a:solidFill>
                  <a:srgbClr val="1B2022"/>
                </a:solidFill>
                <a:latin typeface="Times New Roman"/>
                <a:ea typeface="Times New Roman"/>
                <a:cs typeface="Times New Roman"/>
                <a:sym typeface="Times New Roman"/>
              </a:rPr>
              <a:t>3) </a:t>
            </a:r>
            <a:r>
              <a:rPr lang="en-US" sz="1800">
                <a:solidFill>
                  <a:srgbClr val="1B2022"/>
                </a:solidFill>
                <a:latin typeface="Times New Roman"/>
                <a:ea typeface="Times New Roman"/>
                <a:cs typeface="Times New Roman"/>
                <a:sym typeface="Times New Roman"/>
              </a:rPr>
              <a:t>User Interface and Web-Based Interaction Module</a:t>
            </a:r>
            <a:endParaRPr/>
          </a:p>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rPr b="0" i="0" lang="en-US" sz="1800" u="none" cap="none" strike="noStrike">
                <a:solidFill>
                  <a:srgbClr val="1B2022"/>
                </a:solidFill>
                <a:latin typeface="Times New Roman"/>
                <a:ea typeface="Times New Roman"/>
                <a:cs typeface="Times New Roman"/>
                <a:sym typeface="Times New Roman"/>
              </a:rPr>
              <a:t>4) </a:t>
            </a:r>
            <a:r>
              <a:rPr lang="en-US" sz="1800">
                <a:solidFill>
                  <a:srgbClr val="1B2022"/>
                </a:solidFill>
                <a:latin typeface="Times New Roman"/>
                <a:ea typeface="Times New Roman"/>
                <a:cs typeface="Times New Roman"/>
                <a:sym typeface="Times New Roman"/>
              </a:rPr>
              <a:t>Data Acquisition and Preprocessing Techniques</a:t>
            </a:r>
            <a:endParaRPr/>
          </a:p>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rPr b="0" i="0" lang="en-US" sz="1800" u="none" cap="none" strike="noStrike">
                <a:solidFill>
                  <a:srgbClr val="1B2022"/>
                </a:solidFill>
                <a:latin typeface="Times New Roman"/>
                <a:ea typeface="Times New Roman"/>
                <a:cs typeface="Times New Roman"/>
                <a:sym typeface="Times New Roman"/>
              </a:rPr>
              <a:t>5) </a:t>
            </a:r>
            <a:r>
              <a:rPr lang="en-US" sz="1800">
                <a:solidFill>
                  <a:srgbClr val="1B2022"/>
                </a:solidFill>
                <a:latin typeface="Times New Roman"/>
                <a:ea typeface="Times New Roman"/>
                <a:cs typeface="Times New Roman"/>
                <a:sym typeface="Times New Roman"/>
              </a:rPr>
              <a:t>Technology Stack and Tools Used</a:t>
            </a:r>
            <a:endParaRPr sz="1800">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t/>
            </a:r>
            <a:endParaRPr sz="1800">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rPr lang="en-US" sz="1800">
                <a:solidFill>
                  <a:srgbClr val="1B2022"/>
                </a:solidFill>
                <a:latin typeface="Times New Roman"/>
                <a:ea typeface="Times New Roman"/>
                <a:cs typeface="Times New Roman"/>
                <a:sym typeface="Times New Roman"/>
              </a:rPr>
              <a:t>6)  Model Development and Implementation Details</a:t>
            </a:r>
            <a:endParaRPr sz="1800">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t/>
            </a:r>
            <a:endParaRPr sz="1800">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rPr lang="en-US" sz="1800">
                <a:solidFill>
                  <a:srgbClr val="1B2022"/>
                </a:solidFill>
                <a:latin typeface="Times New Roman"/>
                <a:ea typeface="Times New Roman"/>
                <a:cs typeface="Times New Roman"/>
                <a:sym typeface="Times New Roman"/>
              </a:rPr>
              <a:t>7)  Results, Performance Analysis, and Key Findings</a:t>
            </a:r>
            <a:endParaRPr sz="1800">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t/>
            </a:r>
            <a:endParaRPr sz="1800">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rPr lang="en-US" sz="1800">
                <a:solidFill>
                  <a:srgbClr val="1B2022"/>
                </a:solidFill>
                <a:latin typeface="Times New Roman"/>
                <a:ea typeface="Times New Roman"/>
                <a:cs typeface="Times New Roman"/>
                <a:sym typeface="Times New Roman"/>
              </a:rPr>
              <a:t>8) Research Methodology and Workflow </a:t>
            </a:r>
            <a:endParaRPr sz="1800">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t/>
            </a:r>
            <a:endParaRPr sz="1800">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rPr lang="en-US" sz="1800">
                <a:solidFill>
                  <a:srgbClr val="1B2022"/>
                </a:solidFill>
                <a:latin typeface="Times New Roman"/>
                <a:ea typeface="Times New Roman"/>
                <a:cs typeface="Times New Roman"/>
                <a:sym typeface="Times New Roman"/>
              </a:rPr>
              <a:t>9) Conclusion and Future Enhancements</a:t>
            </a:r>
            <a:endParaRPr sz="1800">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t/>
            </a:r>
            <a:endParaRPr sz="1800">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rPr lang="en-US" sz="1800">
                <a:solidFill>
                  <a:srgbClr val="1B2022"/>
                </a:solidFill>
                <a:latin typeface="Times New Roman"/>
                <a:ea typeface="Times New Roman"/>
                <a:cs typeface="Times New Roman"/>
                <a:sym typeface="Times New Roman"/>
              </a:rPr>
              <a:t>10) Results, Performance Analysis (Continued)</a:t>
            </a:r>
            <a:endParaRPr sz="1800">
              <a:solidFill>
                <a:srgbClr val="1B2022"/>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
          <p:cNvSpPr txBox="1"/>
          <p:nvPr/>
        </p:nvSpPr>
        <p:spPr>
          <a:xfrm>
            <a:off x="457200" y="0"/>
            <a:ext cx="6019560" cy="8377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2022"/>
              </a:buClr>
              <a:buSzPts val="3200"/>
              <a:buFont typeface="Times New Roman"/>
              <a:buNone/>
            </a:pPr>
            <a:r>
              <a:rPr b="0" i="0" lang="en-US" sz="3200" u="none" cap="none" strike="noStrike">
                <a:solidFill>
                  <a:srgbClr val="1B2022"/>
                </a:solidFill>
                <a:latin typeface="Times New Roman"/>
                <a:ea typeface="Times New Roman"/>
                <a:cs typeface="Times New Roman"/>
                <a:sym typeface="Times New Roman"/>
              </a:rPr>
              <a:t>Introduction</a:t>
            </a:r>
            <a:endParaRPr b="0" i="0" sz="1400" u="none" cap="none" strike="noStrike">
              <a:solidFill>
                <a:srgbClr val="000000"/>
              </a:solidFill>
              <a:latin typeface="Arial"/>
              <a:ea typeface="Arial"/>
              <a:cs typeface="Arial"/>
              <a:sym typeface="Arial"/>
            </a:endParaRPr>
          </a:p>
        </p:txBody>
      </p:sp>
      <p:sp>
        <p:nvSpPr>
          <p:cNvPr id="96" name="Google Shape;96;p3"/>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97" name="Google Shape;97;p3"/>
          <p:cNvSpPr txBox="1"/>
          <p:nvPr/>
        </p:nvSpPr>
        <p:spPr>
          <a:xfrm>
            <a:off x="82004" y="1080250"/>
            <a:ext cx="8979992" cy="50023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1200"/>
              </a:spcBef>
              <a:spcAft>
                <a:spcPts val="0"/>
              </a:spcAft>
              <a:buClr>
                <a:srgbClr val="000000"/>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Musculoskeletal disorders (MSDs) affect muscles, joints, and bones, causing pain and reduced mobility. These disorders are increasingly common due to poor posture, long screen time, and lack of physical activity. Traditional diagnosis methods require physical visits to healthcare professionals and expensive equipment, which limits early detection.</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To overcome these challenges, this research proposes an AI-based system that uses computer vision and deep learning techniques to automatically detect posture-related abnormalities. The system analyzes images or radiographic data and provides real-time detection along with personalized exercise recommendations. This approach aims to make healthcare more accessible, affordable, and efficient.</a:t>
            </a:r>
            <a:endParaRPr b="0" i="0" sz="1800" u="none" cap="none" strike="noStrike">
              <a:solidFill>
                <a:schemeClr val="dk1"/>
              </a:solidFill>
              <a:latin typeface="Times New Roman"/>
              <a:ea typeface="Times New Roman"/>
              <a:cs typeface="Times New Roman"/>
              <a:sym typeface="Times New Roman"/>
            </a:endParaRPr>
          </a:p>
        </p:txBody>
      </p:sp>
      <p:sp>
        <p:nvSpPr>
          <p:cNvPr descr="TRP Rating' Case: ED Attaches Properties of 3 Television Channels" id="98" name="Google Shape;98;p3"/>
          <p:cNvSpPr/>
          <p:nvPr/>
        </p:nvSpPr>
        <p:spPr>
          <a:xfrm>
            <a:off x="4419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type="title"/>
          </p:nvPr>
        </p:nvSpPr>
        <p:spPr>
          <a:xfrm>
            <a:off x="0" y="0"/>
            <a:ext cx="6456900" cy="914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3200"/>
              <a:buNone/>
            </a:pPr>
            <a:r>
              <a:rPr lang="en-US" sz="2800"/>
              <a:t>   Problem Statement</a:t>
            </a:r>
            <a:endParaRPr sz="2800"/>
          </a:p>
        </p:txBody>
      </p:sp>
      <p:sp>
        <p:nvSpPr>
          <p:cNvPr id="104" name="Google Shape;104;p4"/>
          <p:cNvSpPr txBox="1"/>
          <p:nvPr/>
        </p:nvSpPr>
        <p:spPr>
          <a:xfrm>
            <a:off x="272425" y="960169"/>
            <a:ext cx="8491200" cy="5509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Musculoskeletal Disorders (MSDs) are among the most common health problems worldwide and affect millions of people across different age groups and professions. These disorders impact muscles, joints, bones, tendons, and ligaments, causing pain, discomfort, posture imbalance, reduced mobility, and sometimes permanent disability. The increasing use of computers, mobile devices, sedentary lifestyles, long working hours, repetitive physical activities, and poor ergonomic habits have significantly increased the number of posture-related disorders in modern society.</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Despite the rapid growth in healthcare technologies, early detection and continuous monitoring of musculoskeletal disorders remain major challenges. Most existing diagnostic approaches depend heavily on physical examinations, expensive medical imaging systems, wearable sensors, and expert clinical evaluation. These traditional systems are often costly, time-consuming, and inaccessible to people living in rural or underdeveloped areas where advanced healthcare facilities are limited.</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Another major issue is that most currently available systems focus only on disorder detection and do not provide rehabilitation support or personalized corrective guidance. Patients usually receive generalized recommendations that may not suit their body condition, posture severity, age, or lifestyle.</a:t>
            </a:r>
            <a:endParaRPr/>
          </a:p>
          <a:p>
            <a:pPr indent="0" lvl="0" marL="0" marR="0" rtl="0" algn="l">
              <a:lnSpc>
                <a:spcPct val="100000"/>
              </a:lnSpc>
              <a:spcBef>
                <a:spcPts val="1200"/>
              </a:spcBef>
              <a:spcAft>
                <a:spcPts val="0"/>
              </a:spcAft>
              <a:buClr>
                <a:srgbClr val="000000"/>
              </a:buClr>
              <a:buSzPts val="14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lang="en-US" sz="3200">
                <a:latin typeface="Times New Roman"/>
                <a:ea typeface="Times New Roman"/>
                <a:cs typeface="Times New Roman"/>
                <a:sym typeface="Times New Roman"/>
              </a:rPr>
              <a:t>   Objective</a:t>
            </a:r>
            <a:endParaRPr/>
          </a:p>
        </p:txBody>
      </p:sp>
      <p:sp>
        <p:nvSpPr>
          <p:cNvPr id="110" name="Google Shape;110;p5"/>
          <p:cNvSpPr txBox="1"/>
          <p:nvPr>
            <p:ph idx="1" type="body"/>
          </p:nvPr>
        </p:nvSpPr>
        <p:spPr>
          <a:xfrm>
            <a:off x="0" y="1181556"/>
            <a:ext cx="8686800" cy="535531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114300" lvl="0" marL="0" marR="0" rtl="0" algn="l">
              <a:lnSpc>
                <a:spcPct val="100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To develop an intelligent healthcare system capable of detecting musculoskeletal disorders automatically using Artificial Intelligence and computer vision technologies. </a:t>
            </a:r>
            <a:endParaRPr/>
          </a:p>
          <a:p>
            <a:pPr indent="-114300" lvl="0" marL="0" marR="0" rtl="0" algn="l">
              <a:lnSpc>
                <a:spcPct val="100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To design a real-time posture analysis framework that can identify abnormalities in body posture such as forward head posture, spinal imbalance, wrist disorders, and joint misalignment. </a:t>
            </a:r>
            <a:endParaRPr/>
          </a:p>
          <a:p>
            <a:pPr indent="-114300" lvl="0" marL="0" marR="0" rtl="0" algn="l">
              <a:lnSpc>
                <a:spcPct val="100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To implement human pose estimation techniques for accurate extraction of body landmarks, joint positions, movement patterns, and alignment information from images and video inputs. </a:t>
            </a:r>
            <a:endParaRPr/>
          </a:p>
          <a:p>
            <a:pPr indent="-114300" lvl="0" marL="0" marR="0" rtl="0" algn="l">
              <a:lnSpc>
                <a:spcPct val="100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To build an automated disorder classification system using machine learning and deep learning models such as CNN, Random Forest, SVM, Logistic Regression, and KNN for distinguishing normal and abnormal posture conditions. </a:t>
            </a:r>
            <a:endParaRPr/>
          </a:p>
          <a:p>
            <a:pPr indent="-114300" lvl="0" marL="0" marR="0" rtl="0" algn="l">
              <a:lnSpc>
                <a:spcPct val="100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To reduce dependency on expensive medical equipment and manual clinical diagnosis by creating a low-cost and accessible AI-based healthcare solution. </a:t>
            </a:r>
            <a:endParaRPr/>
          </a:p>
          <a:p>
            <a:pPr indent="-114300" lvl="0" marL="0" marR="0" rtl="0" algn="l">
              <a:lnSpc>
                <a:spcPct val="100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To utilize standard camera devices and radiographic images for musculoskeletal disorder detection without requiring specialized wearable sensors or advanced hardware systems. </a:t>
            </a:r>
            <a:endParaRPr/>
          </a:p>
          <a:p>
            <a:pPr indent="-114300" lvl="0" marL="0" marR="0" rtl="0" algn="l">
              <a:lnSpc>
                <a:spcPct val="100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To improve early-stage detection of musculoskeletal abnormalities so that users can take preventive measures before the condition becomes severe. </a:t>
            </a:r>
            <a:endParaRPr/>
          </a:p>
          <a:p>
            <a:pPr indent="0" lvl="0" marL="0" marR="0" rtl="0" algn="l">
              <a:lnSpc>
                <a:spcPct val="100000"/>
              </a:lnSpc>
              <a:spcBef>
                <a:spcPts val="0"/>
              </a:spcBef>
              <a:spcAft>
                <a:spcPts val="0"/>
              </a:spcAft>
              <a:buClr>
                <a:schemeClr val="dk1"/>
              </a:buClr>
              <a:buSzPts val="1800"/>
              <a:buNone/>
            </a:pPr>
            <a:r>
              <a:rPr b="0" i="0" lang="en-US" sz="1800" u="none" cap="none" strike="noStrike">
                <a:solidFill>
                  <a:schemeClr val="dk1"/>
                </a:solidFill>
                <a:latin typeface="Times New Roman"/>
                <a:ea typeface="Times New Roman"/>
                <a:cs typeface="Times New Roman"/>
                <a:sym typeface="Times New Roman"/>
              </a:rPr>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lang="en-US" sz="3200">
                <a:latin typeface="Times New Roman"/>
                <a:ea typeface="Times New Roman"/>
                <a:cs typeface="Times New Roman"/>
                <a:sym typeface="Times New Roman"/>
              </a:rPr>
              <a:t>  Proposed System</a:t>
            </a:r>
            <a:endParaRPr/>
          </a:p>
        </p:txBody>
      </p:sp>
      <p:sp>
        <p:nvSpPr>
          <p:cNvPr id="116" name="Google Shape;116;p6"/>
          <p:cNvSpPr txBox="1"/>
          <p:nvPr>
            <p:ph idx="1" type="subTitle"/>
          </p:nvPr>
        </p:nvSpPr>
        <p:spPr>
          <a:xfrm>
            <a:off x="91440" y="1081547"/>
            <a:ext cx="8595000" cy="5515897"/>
          </a:xfrm>
          <a:prstGeom prst="rect">
            <a:avLst/>
          </a:prstGeom>
          <a:noFill/>
          <a:ln>
            <a:noFill/>
          </a:ln>
        </p:spPr>
        <p:txBody>
          <a:bodyPr anchorCtr="0" anchor="ctr" bIns="0" lIns="0" spcFirstLastPara="1" rIns="0" wrap="square" tIns="0">
            <a:noAutofit/>
          </a:bodyPr>
          <a:lstStyle/>
          <a:p>
            <a:pPr indent="0" lvl="0" marL="50800" rtl="0" algn="l">
              <a:lnSpc>
                <a:spcPct val="90000"/>
              </a:lnSpc>
              <a:spcBef>
                <a:spcPts val="1000"/>
              </a:spcBef>
              <a:spcAft>
                <a:spcPts val="0"/>
              </a:spcAft>
              <a:buSzPts val="1800"/>
              <a:buNone/>
            </a:pPr>
            <a:r>
              <a:rPr lang="en-US" sz="1800">
                <a:latin typeface="Times New Roman"/>
                <a:ea typeface="Times New Roman"/>
                <a:cs typeface="Times New Roman"/>
                <a:sym typeface="Times New Roman"/>
              </a:rPr>
              <a:t>The proposed system is an AI-based healthcare framework that detects musculoskeletal disorders using Artificial Intelligence techniques. The system analyzes posture and radiographic images in real time using pose estimation, image processing, and deep learning models.</a:t>
            </a:r>
            <a:endParaRPr/>
          </a:p>
          <a:p>
            <a:pPr indent="-4064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The workflow includes:</a:t>
            </a:r>
            <a:endParaRPr/>
          </a:p>
          <a:p>
            <a:pPr indent="-4064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Image Upload </a:t>
            </a:r>
            <a:endParaRPr/>
          </a:p>
          <a:p>
            <a:pPr indent="-4064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Image Preprocessing </a:t>
            </a:r>
            <a:endParaRPr/>
          </a:p>
          <a:p>
            <a:pPr indent="-4064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Feature Extraction </a:t>
            </a:r>
            <a:endParaRPr/>
          </a:p>
          <a:p>
            <a:pPr indent="-4064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Disorder Classification </a:t>
            </a:r>
            <a:endParaRPr/>
          </a:p>
          <a:p>
            <a:pPr indent="-4064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Exercise Recommendation </a:t>
            </a:r>
            <a:endParaRPr/>
          </a:p>
          <a:p>
            <a:pPr indent="0" lvl="0" marL="50800" rtl="0" algn="l">
              <a:lnSpc>
                <a:spcPct val="90000"/>
              </a:lnSpc>
              <a:spcBef>
                <a:spcPts val="1000"/>
              </a:spcBef>
              <a:spcAft>
                <a:spcPts val="0"/>
              </a:spcAft>
              <a:buSzPts val="1800"/>
              <a:buNone/>
            </a:pPr>
            <a:r>
              <a:rPr lang="en-US" sz="1800">
                <a:latin typeface="Times New Roman"/>
                <a:ea typeface="Times New Roman"/>
                <a:cs typeface="Times New Roman"/>
                <a:sym typeface="Times New Roman"/>
              </a:rPr>
              <a:t>Machine learning and deep learning models such as CNN, SVM, Random Forest, and KNN are used to classify normal and abnormal posture conditions. After detecting the disorder, the system provides personalized rehabilitation exercises and corrective guidance.</a:t>
            </a:r>
            <a:endParaRPr/>
          </a:p>
          <a:p>
            <a:pPr indent="0" lvl="0" marL="50800" rtl="0" algn="l">
              <a:lnSpc>
                <a:spcPct val="90000"/>
              </a:lnSpc>
              <a:spcBef>
                <a:spcPts val="1000"/>
              </a:spcBef>
              <a:spcAft>
                <a:spcPts val="0"/>
              </a:spcAft>
              <a:buSzPts val="1800"/>
              <a:buNone/>
            </a:pPr>
            <a:r>
              <a:rPr lang="en-US" sz="1800">
                <a:latin typeface="Times New Roman"/>
                <a:ea typeface="Times New Roman"/>
                <a:cs typeface="Times New Roman"/>
                <a:sym typeface="Times New Roman"/>
              </a:rPr>
              <a:t>The framework offers a low-cost, real-time, and user-friendly solution for early detection of musculoskeletal disorders and preventive healthcare support.</a:t>
            </a:r>
            <a:endParaRPr/>
          </a:p>
          <a:p>
            <a:pPr indent="-292100" lvl="0" marL="457200" rtl="0" algn="l">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lang="en-US" sz="3200">
                <a:latin typeface="Times New Roman"/>
                <a:ea typeface="Times New Roman"/>
                <a:cs typeface="Times New Roman"/>
                <a:sym typeface="Times New Roman"/>
              </a:rPr>
              <a:t>Methodology</a:t>
            </a:r>
            <a:endParaRPr sz="3200"/>
          </a:p>
        </p:txBody>
      </p:sp>
      <p:sp>
        <p:nvSpPr>
          <p:cNvPr id="122" name="Google Shape;122;p7"/>
          <p:cNvSpPr txBox="1"/>
          <p:nvPr>
            <p:ph idx="1" type="subTitle"/>
          </p:nvPr>
        </p:nvSpPr>
        <p:spPr>
          <a:xfrm>
            <a:off x="157316" y="983226"/>
            <a:ext cx="8829368" cy="5643716"/>
          </a:xfrm>
          <a:prstGeom prst="rect">
            <a:avLst/>
          </a:prstGeom>
          <a:noFill/>
          <a:ln>
            <a:noFill/>
          </a:ln>
        </p:spPr>
        <p:txBody>
          <a:bodyPr anchorCtr="0" anchor="ctr" bIns="0" lIns="0" spcFirstLastPara="1" rIns="0" wrap="square" tIns="0">
            <a:noAutofit/>
          </a:bodyPr>
          <a:lstStyle/>
          <a:p>
            <a:pPr indent="-4064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The proposed methodology uses Artificial Intelligence techniques for detecting musculoskeletal disorders and recommending personalized rehabilitation exercises. The system follows a structured workflow for posture analysis and disorder prediction.</a:t>
            </a:r>
            <a:endParaRPr/>
          </a:p>
          <a:p>
            <a:pPr indent="0" lvl="0" marL="50800" rtl="0" algn="l">
              <a:lnSpc>
                <a:spcPct val="90000"/>
              </a:lnSpc>
              <a:spcBef>
                <a:spcPts val="1000"/>
              </a:spcBef>
              <a:spcAft>
                <a:spcPts val="0"/>
              </a:spcAft>
              <a:buSzPts val="1800"/>
              <a:buNone/>
            </a:pPr>
            <a:r>
              <a:rPr lang="en-US" sz="1800">
                <a:latin typeface="Times New Roman"/>
                <a:ea typeface="Times New Roman"/>
                <a:cs typeface="Times New Roman"/>
                <a:sym typeface="Times New Roman"/>
              </a:rPr>
              <a:t>     The methodology includes:</a:t>
            </a:r>
            <a:endParaRPr/>
          </a:p>
          <a:p>
            <a:pPr indent="-4064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Data Acquisition </a:t>
            </a:r>
            <a:endParaRPr/>
          </a:p>
          <a:p>
            <a:pPr indent="-4064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Image Preprocessing </a:t>
            </a:r>
            <a:endParaRPr/>
          </a:p>
          <a:p>
            <a:pPr indent="-4064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Feature Extraction </a:t>
            </a:r>
            <a:endParaRPr/>
          </a:p>
          <a:p>
            <a:pPr indent="-4064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Model Training </a:t>
            </a:r>
            <a:endParaRPr/>
          </a:p>
          <a:p>
            <a:pPr indent="-4064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Disorder Detection </a:t>
            </a:r>
            <a:endParaRPr/>
          </a:p>
          <a:p>
            <a:pPr indent="-4064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Exercise Recommendation </a:t>
            </a:r>
            <a:endParaRPr/>
          </a:p>
          <a:p>
            <a:pPr indent="0" lvl="0" marL="50800" rtl="0" algn="l">
              <a:lnSpc>
                <a:spcPct val="90000"/>
              </a:lnSpc>
              <a:spcBef>
                <a:spcPts val="1000"/>
              </a:spcBef>
              <a:spcAft>
                <a:spcPts val="0"/>
              </a:spcAft>
              <a:buSzPts val="1800"/>
              <a:buNone/>
            </a:pPr>
            <a:r>
              <a:t/>
            </a:r>
            <a:endParaRPr sz="1800">
              <a:latin typeface="Times New Roman"/>
              <a:ea typeface="Times New Roman"/>
              <a:cs typeface="Times New Roman"/>
              <a:sym typeface="Times New Roman"/>
            </a:endParaRPr>
          </a:p>
          <a:p>
            <a:pPr indent="-292100" lvl="0" marL="457200" rtl="0" algn="l">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lang="en-US" sz="3200">
                <a:latin typeface="Times New Roman"/>
                <a:ea typeface="Times New Roman"/>
                <a:cs typeface="Times New Roman"/>
                <a:sym typeface="Times New Roman"/>
              </a:rPr>
              <a:t>System Architecture</a:t>
            </a:r>
            <a:endParaRPr/>
          </a:p>
        </p:txBody>
      </p:sp>
      <p:sp>
        <p:nvSpPr>
          <p:cNvPr id="128" name="Google Shape;128;p8"/>
          <p:cNvSpPr txBox="1"/>
          <p:nvPr>
            <p:ph idx="1" type="body"/>
          </p:nvPr>
        </p:nvSpPr>
        <p:spPr>
          <a:xfrm>
            <a:off x="137652" y="1081547"/>
            <a:ext cx="8868696" cy="5437239"/>
          </a:xfrm>
          <a:prstGeom prst="rect">
            <a:avLst/>
          </a:prstGeom>
          <a:noFill/>
          <a:ln>
            <a:noFill/>
          </a:ln>
        </p:spPr>
        <p:txBody>
          <a:bodyPr anchorCtr="0" anchor="t" bIns="0" lIns="0" spcFirstLastPara="1" rIns="0" wrap="square" tIns="0">
            <a:normAutofit/>
          </a:bodyPr>
          <a:lstStyle/>
          <a:p>
            <a:pPr indent="0" lvl="0" marL="114300" rtl="0" algn="l">
              <a:lnSpc>
                <a:spcPct val="90000"/>
              </a:lnSpc>
              <a:spcBef>
                <a:spcPts val="1000"/>
              </a:spcBef>
              <a:spcAft>
                <a:spcPts val="0"/>
              </a:spcAft>
              <a:buSzPts val="1800"/>
              <a:buNone/>
            </a:pPr>
            <a:r>
              <a:rPr lang="en-US" sz="2000">
                <a:latin typeface="Times New Roman"/>
                <a:ea typeface="Times New Roman"/>
                <a:cs typeface="Times New Roman"/>
                <a:sym typeface="Times New Roman"/>
              </a:rPr>
              <a:t>   </a:t>
            </a:r>
            <a:endParaRPr/>
          </a:p>
          <a:p>
            <a:pPr indent="0" lvl="0" marL="114300" rtl="0" algn="l">
              <a:lnSpc>
                <a:spcPct val="90000"/>
              </a:lnSpc>
              <a:spcBef>
                <a:spcPts val="1000"/>
              </a:spcBef>
              <a:spcAft>
                <a:spcPts val="0"/>
              </a:spcAft>
              <a:buSzPts val="1800"/>
              <a:buNone/>
            </a:pPr>
            <a:r>
              <a:t/>
            </a:r>
            <a:endParaRPr sz="20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0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0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0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0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0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0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0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0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rPr lang="en-US"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2000">
              <a:latin typeface="Times New Roman"/>
              <a:ea typeface="Times New Roman"/>
              <a:cs typeface="Times New Roman"/>
              <a:sym typeface="Times New Roman"/>
            </a:endParaRPr>
          </a:p>
        </p:txBody>
      </p:sp>
      <p:pic>
        <p:nvPicPr>
          <p:cNvPr id="129" name="Google Shape;129;p8"/>
          <p:cNvPicPr preferRelativeResize="0"/>
          <p:nvPr/>
        </p:nvPicPr>
        <p:blipFill rotWithShape="1">
          <a:blip r:embed="rId3">
            <a:alphaModFix/>
          </a:blip>
          <a:srcRect b="0" l="0" r="0" t="0"/>
          <a:stretch/>
        </p:blipFill>
        <p:spPr>
          <a:xfrm>
            <a:off x="0" y="914040"/>
            <a:ext cx="9144000" cy="556296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lang="en-US" sz="3200">
                <a:latin typeface="Times New Roman"/>
                <a:ea typeface="Times New Roman"/>
                <a:cs typeface="Times New Roman"/>
                <a:sym typeface="Times New Roman"/>
              </a:rPr>
              <a:t>Technologies</a:t>
            </a:r>
            <a:r>
              <a:rPr lang="en-US"/>
              <a:t> </a:t>
            </a:r>
            <a:r>
              <a:rPr lang="en-US" sz="3200">
                <a:latin typeface="Times New Roman"/>
                <a:ea typeface="Times New Roman"/>
                <a:cs typeface="Times New Roman"/>
                <a:sym typeface="Times New Roman"/>
              </a:rPr>
              <a:t>Used</a:t>
            </a:r>
            <a:endParaRPr/>
          </a:p>
        </p:txBody>
      </p:sp>
      <p:sp>
        <p:nvSpPr>
          <p:cNvPr id="135" name="Google Shape;135;p9"/>
          <p:cNvSpPr txBox="1"/>
          <p:nvPr>
            <p:ph idx="1" type="subTitle"/>
          </p:nvPr>
        </p:nvSpPr>
        <p:spPr>
          <a:xfrm>
            <a:off x="68826" y="1081547"/>
            <a:ext cx="8917858" cy="5515897"/>
          </a:xfrm>
          <a:prstGeom prst="rect">
            <a:avLst/>
          </a:prstGeom>
          <a:noFill/>
          <a:ln>
            <a:noFill/>
          </a:ln>
        </p:spPr>
        <p:txBody>
          <a:bodyPr anchorCtr="0" anchor="ctr" bIns="0" lIns="0" spcFirstLastPara="1" rIns="0" wrap="square" tIns="0">
            <a:noAutofit/>
          </a:bodyPr>
          <a:lstStyle/>
          <a:p>
            <a:pPr indent="0" lvl="0" marL="50800" rtl="0" algn="l">
              <a:lnSpc>
                <a:spcPct val="90000"/>
              </a:lnSpc>
              <a:spcBef>
                <a:spcPts val="1000"/>
              </a:spcBef>
              <a:spcAft>
                <a:spcPts val="0"/>
              </a:spcAft>
              <a:buSzPts val="1800"/>
              <a:buNone/>
            </a:pPr>
            <a:r>
              <a:rPr b="1" lang="en-US" sz="1800"/>
              <a:t>      </a:t>
            </a:r>
            <a:endParaRPr/>
          </a:p>
          <a:p>
            <a:pPr indent="0" lvl="0" marL="50800" rtl="0" algn="l">
              <a:lnSpc>
                <a:spcPct val="90000"/>
              </a:lnSpc>
              <a:spcBef>
                <a:spcPts val="1000"/>
              </a:spcBef>
              <a:spcAft>
                <a:spcPts val="0"/>
              </a:spcAft>
              <a:buSzPts val="1800"/>
              <a:buNone/>
            </a:pPr>
            <a:r>
              <a:rPr b="1" lang="en-US" sz="1800"/>
              <a:t>      Programming Languages</a:t>
            </a:r>
            <a:endParaRPr/>
          </a:p>
          <a:p>
            <a:pPr indent="-406400" lvl="0" marL="457200" rtl="0" algn="l">
              <a:lnSpc>
                <a:spcPct val="90000"/>
              </a:lnSpc>
              <a:spcBef>
                <a:spcPts val="1000"/>
              </a:spcBef>
              <a:spcAft>
                <a:spcPts val="0"/>
              </a:spcAft>
              <a:buClr>
                <a:schemeClr val="dk1"/>
              </a:buClr>
              <a:buSzPts val="1800"/>
              <a:buChar char="•"/>
            </a:pPr>
            <a:r>
              <a:rPr b="1" lang="en-US" sz="1800"/>
              <a:t>Python</a:t>
            </a:r>
            <a:r>
              <a:rPr lang="en-US" sz="1800"/>
              <a:t> – Used for AI model development and backend processing. </a:t>
            </a:r>
            <a:endParaRPr/>
          </a:p>
          <a:p>
            <a:pPr indent="0" lvl="0" marL="50800" rtl="0" algn="l">
              <a:lnSpc>
                <a:spcPct val="90000"/>
              </a:lnSpc>
              <a:spcBef>
                <a:spcPts val="1000"/>
              </a:spcBef>
              <a:spcAft>
                <a:spcPts val="0"/>
              </a:spcAft>
              <a:buSzPts val="1800"/>
              <a:buNone/>
            </a:pPr>
            <a:r>
              <a:rPr b="1" lang="en-US" sz="1800"/>
              <a:t>      Frameworks &amp; Libraries</a:t>
            </a:r>
            <a:endParaRPr/>
          </a:p>
          <a:p>
            <a:pPr indent="-406400" lvl="0" marL="457200" rtl="0" algn="l">
              <a:lnSpc>
                <a:spcPct val="90000"/>
              </a:lnSpc>
              <a:spcBef>
                <a:spcPts val="1000"/>
              </a:spcBef>
              <a:spcAft>
                <a:spcPts val="0"/>
              </a:spcAft>
              <a:buClr>
                <a:schemeClr val="dk1"/>
              </a:buClr>
              <a:buSzPts val="1800"/>
              <a:buChar char="•"/>
            </a:pPr>
            <a:r>
              <a:rPr b="1" lang="en-US" sz="1800"/>
              <a:t>TensorFlow</a:t>
            </a:r>
            <a:r>
              <a:rPr lang="en-US" sz="1800"/>
              <a:t> – Used for deep learning model training and prediction. </a:t>
            </a:r>
            <a:endParaRPr/>
          </a:p>
          <a:p>
            <a:pPr indent="-406400" lvl="0" marL="457200" rtl="0" algn="l">
              <a:lnSpc>
                <a:spcPct val="90000"/>
              </a:lnSpc>
              <a:spcBef>
                <a:spcPts val="1000"/>
              </a:spcBef>
              <a:spcAft>
                <a:spcPts val="0"/>
              </a:spcAft>
              <a:buClr>
                <a:schemeClr val="dk1"/>
              </a:buClr>
              <a:buSzPts val="1800"/>
              <a:buChar char="•"/>
            </a:pPr>
            <a:r>
              <a:rPr b="1" lang="en-US" sz="1800"/>
              <a:t>Keras</a:t>
            </a:r>
            <a:r>
              <a:rPr lang="en-US" sz="1800"/>
              <a:t> – Used for building CNN and neural network models easily.  </a:t>
            </a:r>
            <a:endParaRPr/>
          </a:p>
          <a:p>
            <a:pPr indent="-406400" lvl="0" marL="457200" rtl="0" algn="l">
              <a:lnSpc>
                <a:spcPct val="90000"/>
              </a:lnSpc>
              <a:spcBef>
                <a:spcPts val="1000"/>
              </a:spcBef>
              <a:spcAft>
                <a:spcPts val="0"/>
              </a:spcAft>
              <a:buClr>
                <a:schemeClr val="dk1"/>
              </a:buClr>
              <a:buSzPts val="1800"/>
              <a:buChar char="•"/>
            </a:pPr>
            <a:r>
              <a:rPr b="1" lang="en-US" sz="1800"/>
              <a:t>MediaPipe</a:t>
            </a:r>
            <a:r>
              <a:rPr lang="en-US" sz="1800"/>
              <a:t> – Used for human pose estimation and body landmark detection. </a:t>
            </a:r>
            <a:endParaRPr/>
          </a:p>
          <a:p>
            <a:pPr indent="-406400" lvl="0" marL="457200" rtl="0" algn="l">
              <a:lnSpc>
                <a:spcPct val="90000"/>
              </a:lnSpc>
              <a:spcBef>
                <a:spcPts val="1000"/>
              </a:spcBef>
              <a:spcAft>
                <a:spcPts val="0"/>
              </a:spcAft>
              <a:buClr>
                <a:schemeClr val="dk1"/>
              </a:buClr>
              <a:buSzPts val="1800"/>
              <a:buChar char="•"/>
            </a:pPr>
            <a:r>
              <a:rPr b="1" lang="en-US" sz="1800"/>
              <a:t>NumPy</a:t>
            </a:r>
            <a:r>
              <a:rPr lang="en-US" sz="1800"/>
              <a:t> – Used for numerical operations and matrix processing. </a:t>
            </a:r>
            <a:endParaRPr/>
          </a:p>
          <a:p>
            <a:pPr indent="-406400" lvl="0" marL="457200" rtl="0" algn="l">
              <a:lnSpc>
                <a:spcPct val="90000"/>
              </a:lnSpc>
              <a:spcBef>
                <a:spcPts val="1000"/>
              </a:spcBef>
              <a:spcAft>
                <a:spcPts val="0"/>
              </a:spcAft>
              <a:buClr>
                <a:schemeClr val="dk1"/>
              </a:buClr>
              <a:buSzPts val="1800"/>
              <a:buChar char="•"/>
            </a:pPr>
            <a:r>
              <a:rPr b="1" lang="en-US" sz="1800"/>
              <a:t>Scikit-Learn</a:t>
            </a:r>
            <a:r>
              <a:rPr lang="en-US" sz="1800"/>
              <a:t> – Used for machine learning algorithms like SVM, Random Forest, and KNN. </a:t>
            </a:r>
            <a:endParaRPr/>
          </a:p>
          <a:p>
            <a:pPr indent="-406400" lvl="0" marL="457200" rtl="0" algn="l">
              <a:lnSpc>
                <a:spcPct val="90000"/>
              </a:lnSpc>
              <a:spcBef>
                <a:spcPts val="1000"/>
              </a:spcBef>
              <a:spcAft>
                <a:spcPts val="0"/>
              </a:spcAft>
              <a:buClr>
                <a:schemeClr val="dk1"/>
              </a:buClr>
              <a:buSzPts val="1800"/>
              <a:buChar char="•"/>
            </a:pPr>
            <a:r>
              <a:rPr b="1" lang="en-US" sz="1800"/>
              <a:t>Flask</a:t>
            </a:r>
            <a:r>
              <a:rPr lang="en-US" sz="1800"/>
              <a:t> – Used for developing the web-based application interface. </a:t>
            </a:r>
            <a:endParaRPr/>
          </a:p>
          <a:p>
            <a:pPr indent="-406400" lvl="0" marL="457200" rtl="0" algn="l">
              <a:lnSpc>
                <a:spcPct val="90000"/>
              </a:lnSpc>
              <a:spcBef>
                <a:spcPts val="1000"/>
              </a:spcBef>
              <a:spcAft>
                <a:spcPts val="0"/>
              </a:spcAft>
              <a:buClr>
                <a:schemeClr val="dk1"/>
              </a:buClr>
              <a:buSzPts val="1800"/>
              <a:buChar char="•"/>
            </a:pPr>
            <a:r>
              <a:rPr b="1" lang="en-US" sz="1800"/>
              <a:t>Matplotlib</a:t>
            </a:r>
            <a:r>
              <a:rPr lang="en-US" sz="1800"/>
              <a:t> – Used for graphs, charts, and visualization. </a:t>
            </a:r>
            <a:endParaRPr/>
          </a:p>
          <a:p>
            <a:pPr indent="0" lvl="0" marL="50800" rtl="0" algn="l">
              <a:lnSpc>
                <a:spcPct val="90000"/>
              </a:lnSpc>
              <a:spcBef>
                <a:spcPts val="1000"/>
              </a:spcBef>
              <a:spcAft>
                <a:spcPts val="0"/>
              </a:spcAft>
              <a:buSzPts val="1800"/>
              <a:buNone/>
            </a:pPr>
            <a:r>
              <a:rPr b="1" lang="en-US" sz="1800"/>
              <a:t>      Datasets Used</a:t>
            </a:r>
            <a:endParaRPr/>
          </a:p>
          <a:p>
            <a:pPr indent="-406400" lvl="0" marL="457200" rtl="0" algn="l">
              <a:lnSpc>
                <a:spcPct val="90000"/>
              </a:lnSpc>
              <a:spcBef>
                <a:spcPts val="1000"/>
              </a:spcBef>
              <a:spcAft>
                <a:spcPts val="0"/>
              </a:spcAft>
              <a:buClr>
                <a:schemeClr val="dk1"/>
              </a:buClr>
              <a:buSzPts val="1800"/>
              <a:buChar char="•"/>
            </a:pPr>
            <a:r>
              <a:rPr b="1" lang="en-US" sz="1800"/>
              <a:t>MURA Dataset</a:t>
            </a:r>
            <a:r>
              <a:rPr lang="en-US" sz="1800"/>
              <a:t> – Musculoskeletal radiographic image dataset. </a:t>
            </a:r>
            <a:endParaRPr/>
          </a:p>
          <a:p>
            <a:pPr indent="-406400" lvl="0" marL="457200" rtl="0" algn="l">
              <a:lnSpc>
                <a:spcPct val="90000"/>
              </a:lnSpc>
              <a:spcBef>
                <a:spcPts val="1000"/>
              </a:spcBef>
              <a:spcAft>
                <a:spcPts val="0"/>
              </a:spcAft>
              <a:buClr>
                <a:schemeClr val="dk1"/>
              </a:buClr>
              <a:buSzPts val="1800"/>
              <a:buChar char="•"/>
            </a:pPr>
            <a:r>
              <a:rPr b="1" lang="en-US" sz="1800"/>
              <a:t>EMG Dataset</a:t>
            </a:r>
            <a:r>
              <a:rPr lang="en-US" sz="1800"/>
              <a:t> – Muscle signal dataset for posture and disorder analysis.</a:t>
            </a:r>
            <a:endParaRPr/>
          </a:p>
          <a:p>
            <a:pPr indent="-292100" lvl="0" marL="457200" rtl="0" algn="l">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0"/>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lang="en-US" sz="3200">
                <a:latin typeface="Times New Roman"/>
                <a:ea typeface="Times New Roman"/>
                <a:cs typeface="Times New Roman"/>
                <a:sym typeface="Times New Roman"/>
              </a:rPr>
              <a:t>Algorithm / AI Models</a:t>
            </a:r>
            <a:endParaRPr/>
          </a:p>
        </p:txBody>
      </p:sp>
      <p:sp>
        <p:nvSpPr>
          <p:cNvPr id="141" name="Google Shape;141;p10"/>
          <p:cNvSpPr txBox="1"/>
          <p:nvPr>
            <p:ph idx="1" type="body"/>
          </p:nvPr>
        </p:nvSpPr>
        <p:spPr>
          <a:xfrm>
            <a:off x="137650" y="914040"/>
            <a:ext cx="9006300" cy="5567700"/>
          </a:xfrm>
          <a:prstGeom prst="rect">
            <a:avLst/>
          </a:prstGeom>
          <a:blipFill rotWithShape="1">
            <a:blip r:embed="rId3">
              <a:alphaModFix/>
            </a:blip>
            <a:stretch>
              <a:fillRect b="0" l="-135" r="0" t="0"/>
            </a:stretch>
          </a:blipFill>
          <a:ln>
            <a:noFill/>
          </a:ln>
        </p:spPr>
        <p:txBody>
          <a:bodyPr anchorCtr="0" anchor="t" bIns="0" lIns="0" spcFirstLastPara="1" rIns="0" wrap="square" tIns="0">
            <a:normAutofit/>
          </a:bodyPr>
          <a:lstStyle/>
          <a:p>
            <a:pPr indent="-342900" lvl="0" marL="457200" rtl="0" algn="l">
              <a:lnSpc>
                <a:spcPct val="90000"/>
              </a:lnSpc>
              <a:spcBef>
                <a:spcPts val="1000"/>
              </a:spcBef>
              <a:spcAft>
                <a:spcPts val="0"/>
              </a:spcAft>
              <a:buClr>
                <a:schemeClr val="dk1"/>
              </a:buClr>
              <a:buSzPts val="1800"/>
              <a:buChar char="•"/>
            </a:pPr>
            <a:r>
              <a:rPr lang="en-US"/>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lang="en-US" sz="3200">
                <a:latin typeface="Times New Roman"/>
                <a:ea typeface="Times New Roman"/>
                <a:cs typeface="Times New Roman"/>
                <a:sym typeface="Times New Roman"/>
              </a:rPr>
              <a:t>   	Data Set </a:t>
            </a:r>
            <a:endParaRPr/>
          </a:p>
        </p:txBody>
      </p:sp>
      <p:sp>
        <p:nvSpPr>
          <p:cNvPr id="147" name="Google Shape;147;p11"/>
          <p:cNvSpPr txBox="1"/>
          <p:nvPr>
            <p:ph idx="1" type="body"/>
          </p:nvPr>
        </p:nvSpPr>
        <p:spPr>
          <a:xfrm>
            <a:off x="457200" y="914040"/>
            <a:ext cx="8229240" cy="4667760"/>
          </a:xfrm>
          <a:prstGeom prst="rect">
            <a:avLst/>
          </a:prstGeom>
          <a:noFill/>
          <a:ln>
            <a:noFill/>
          </a:ln>
        </p:spPr>
        <p:txBody>
          <a:bodyPr anchorCtr="0" anchor="t" bIns="0" lIns="0" spcFirstLastPara="1" rIns="0" wrap="square" tIns="0">
            <a:normAutofit/>
          </a:bodyPr>
          <a:lstStyle/>
          <a:p>
            <a:pPr indent="-3429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Trunk Extension (TE)</a:t>
            </a:r>
            <a:endParaRPr/>
          </a:p>
          <a:p>
            <a:pPr indent="-3429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Trunk Flexion (TF)</a:t>
            </a:r>
            <a:endParaRPr/>
          </a:p>
          <a:p>
            <a:pPr indent="-3429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Wrist Extension (WE) </a:t>
            </a:r>
            <a:endParaRPr/>
          </a:p>
          <a:p>
            <a:pPr indent="-3429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Wrist Flexion (WF)</a:t>
            </a:r>
            <a:endParaRPr/>
          </a:p>
          <a:p>
            <a:pPr indent="0" lvl="0" marL="114300" rtl="0" algn="l">
              <a:lnSpc>
                <a:spcPct val="90000"/>
              </a:lnSpc>
              <a:spcBef>
                <a:spcPts val="1000"/>
              </a:spcBef>
              <a:spcAft>
                <a:spcPts val="0"/>
              </a:spcAft>
              <a:buSzPts val="1800"/>
              <a:buNone/>
            </a:pPr>
            <a:r>
              <a:t/>
            </a:r>
            <a:endParaRPr sz="1800">
              <a:latin typeface="Times New Roman"/>
              <a:ea typeface="Times New Roman"/>
              <a:cs typeface="Times New Roman"/>
              <a:sym typeface="Times New Roman"/>
            </a:endParaRPr>
          </a:p>
          <a:p>
            <a:pPr indent="0" lvl="0" marL="114300" rtl="0" algn="l">
              <a:lnSpc>
                <a:spcPct val="90000"/>
              </a:lnSpc>
              <a:spcBef>
                <a:spcPts val="1000"/>
              </a:spcBef>
              <a:spcAft>
                <a:spcPts val="0"/>
              </a:spcAft>
              <a:buSzPts val="1800"/>
              <a:buNone/>
            </a:pPr>
            <a:r>
              <a:t/>
            </a:r>
            <a:endParaRPr sz="18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2"/>
          <p:cNvSpPr txBox="1"/>
          <p:nvPr>
            <p:ph type="title"/>
          </p:nvPr>
        </p:nvSpPr>
        <p:spPr>
          <a:xfrm>
            <a:off x="0" y="0"/>
            <a:ext cx="6443100" cy="914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lang="en-US" sz="2800">
                <a:latin typeface="Times New Roman"/>
                <a:ea typeface="Times New Roman"/>
                <a:cs typeface="Times New Roman"/>
                <a:sym typeface="Times New Roman"/>
              </a:rPr>
              <a:t>Results, Performance Analysis, and Key Findings</a:t>
            </a:r>
            <a:endParaRPr sz="2800">
              <a:latin typeface="Times New Roman"/>
              <a:ea typeface="Times New Roman"/>
              <a:cs typeface="Times New Roman"/>
              <a:sym typeface="Times New Roman"/>
            </a:endParaRPr>
          </a:p>
        </p:txBody>
      </p:sp>
      <p:pic>
        <p:nvPicPr>
          <p:cNvPr id="154" name="Google Shape;154;p12" title="Confusion Matrix"/>
          <p:cNvPicPr preferRelativeResize="0"/>
          <p:nvPr/>
        </p:nvPicPr>
        <p:blipFill rotWithShape="1">
          <a:blip r:embed="rId3">
            <a:alphaModFix/>
          </a:blip>
          <a:srcRect b="0" l="0" r="0" t="0"/>
          <a:stretch/>
        </p:blipFill>
        <p:spPr>
          <a:xfrm>
            <a:off x="0" y="1817550"/>
            <a:ext cx="4000000" cy="3432914"/>
          </a:xfrm>
          <a:prstGeom prst="rect">
            <a:avLst/>
          </a:prstGeom>
          <a:noFill/>
          <a:ln>
            <a:noFill/>
          </a:ln>
        </p:spPr>
      </p:pic>
      <p:pic>
        <p:nvPicPr>
          <p:cNvPr id="155" name="Google Shape;155;p12" title="Training and Validation Accuracy"/>
          <p:cNvPicPr preferRelativeResize="0"/>
          <p:nvPr/>
        </p:nvPicPr>
        <p:blipFill rotWithShape="1">
          <a:blip r:embed="rId4">
            <a:alphaModFix/>
          </a:blip>
          <a:srcRect b="0" l="0" r="0" t="0"/>
          <a:stretch/>
        </p:blipFill>
        <p:spPr>
          <a:xfrm>
            <a:off x="4284075" y="2150464"/>
            <a:ext cx="4400000" cy="3100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3"/>
          <p:cNvSpPr txBox="1"/>
          <p:nvPr>
            <p:ph type="title"/>
          </p:nvPr>
        </p:nvSpPr>
        <p:spPr>
          <a:xfrm>
            <a:off x="0" y="0"/>
            <a:ext cx="6443100" cy="914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lang="en-US" sz="3200">
                <a:latin typeface="Times New Roman"/>
                <a:ea typeface="Times New Roman"/>
                <a:cs typeface="Times New Roman"/>
                <a:sym typeface="Times New Roman"/>
              </a:rPr>
              <a:t>    Results</a:t>
            </a:r>
            <a:endParaRPr sz="3200"/>
          </a:p>
        </p:txBody>
      </p:sp>
      <p:sp>
        <p:nvSpPr>
          <p:cNvPr id="162" name="Google Shape;162;p13"/>
          <p:cNvSpPr txBox="1"/>
          <p:nvPr>
            <p:ph idx="1" type="subTitle"/>
          </p:nvPr>
        </p:nvSpPr>
        <p:spPr>
          <a:xfrm>
            <a:off x="169425" y="1000000"/>
            <a:ext cx="8229300" cy="700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SzPts val="1800"/>
              <a:buNone/>
            </a:pPr>
            <a:r>
              <a:rPr i="1" lang="en-US" sz="1600">
                <a:latin typeface="Times New Roman"/>
                <a:ea typeface="Times New Roman"/>
                <a:cs typeface="Times New Roman"/>
                <a:sym typeface="Times New Roman"/>
              </a:rPr>
              <a:t>Categorization Report, Loss Curves, and Combined Performance Analysis</a:t>
            </a:r>
            <a:endParaRPr/>
          </a:p>
        </p:txBody>
      </p:sp>
      <p:pic>
        <p:nvPicPr>
          <p:cNvPr id="163" name="Google Shape;163;p13" title="Categorization Report Table"/>
          <p:cNvPicPr preferRelativeResize="0"/>
          <p:nvPr/>
        </p:nvPicPr>
        <p:blipFill rotWithShape="1">
          <a:blip r:embed="rId3">
            <a:alphaModFix/>
          </a:blip>
          <a:srcRect b="0" l="0" r="0" t="0"/>
          <a:stretch/>
        </p:blipFill>
        <p:spPr>
          <a:xfrm>
            <a:off x="200000" y="1900000"/>
            <a:ext cx="4200000" cy="2200000"/>
          </a:xfrm>
          <a:prstGeom prst="rect">
            <a:avLst/>
          </a:prstGeom>
          <a:noFill/>
          <a:ln>
            <a:noFill/>
          </a:ln>
        </p:spPr>
      </p:pic>
      <p:pic>
        <p:nvPicPr>
          <p:cNvPr id="164" name="Google Shape;164;p13" title="Training and Validation Loss"/>
          <p:cNvPicPr preferRelativeResize="0"/>
          <p:nvPr/>
        </p:nvPicPr>
        <p:blipFill rotWithShape="1">
          <a:blip r:embed="rId4">
            <a:alphaModFix/>
          </a:blip>
          <a:srcRect b="0" l="0" r="0" t="0"/>
          <a:stretch/>
        </p:blipFill>
        <p:spPr>
          <a:xfrm>
            <a:off x="4700000" y="1900000"/>
            <a:ext cx="4250000" cy="2200000"/>
          </a:xfrm>
          <a:prstGeom prst="rect">
            <a:avLst/>
          </a:prstGeom>
          <a:noFill/>
          <a:ln>
            <a:noFill/>
          </a:ln>
        </p:spPr>
      </p:pic>
      <p:pic>
        <p:nvPicPr>
          <p:cNvPr id="165" name="Google Shape;165;p13" title="Loss vs Accuracy Combined"/>
          <p:cNvPicPr preferRelativeResize="0"/>
          <p:nvPr/>
        </p:nvPicPr>
        <p:blipFill rotWithShape="1">
          <a:blip r:embed="rId5">
            <a:alphaModFix/>
          </a:blip>
          <a:srcRect b="0" l="0" r="0" t="0"/>
          <a:stretch/>
        </p:blipFill>
        <p:spPr>
          <a:xfrm>
            <a:off x="2000000" y="4300000"/>
            <a:ext cx="5000000" cy="2200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4"/>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lang="en-US">
                <a:latin typeface="Times New Roman"/>
                <a:ea typeface="Times New Roman"/>
                <a:cs typeface="Times New Roman"/>
                <a:sym typeface="Times New Roman"/>
              </a:rPr>
              <a:t> Results</a:t>
            </a:r>
            <a:endParaRPr/>
          </a:p>
        </p:txBody>
      </p:sp>
      <p:sp>
        <p:nvSpPr>
          <p:cNvPr id="171" name="Google Shape;171;p14"/>
          <p:cNvSpPr txBox="1"/>
          <p:nvPr>
            <p:ph idx="1" type="subTitle"/>
          </p:nvPr>
        </p:nvSpPr>
        <p:spPr>
          <a:xfrm>
            <a:off x="147484" y="914039"/>
            <a:ext cx="8538956" cy="5614579"/>
          </a:xfrm>
          <a:prstGeom prst="rect">
            <a:avLst/>
          </a:prstGeom>
          <a:noFill/>
          <a:ln>
            <a:noFill/>
          </a:ln>
        </p:spPr>
        <p:txBody>
          <a:bodyPr anchorCtr="0" anchor="ctr" bIns="0" lIns="0" spcFirstLastPara="1" rIns="0" wrap="square" tIns="0">
            <a:noAutofit/>
          </a:bodyPr>
          <a:lstStyle/>
          <a:p>
            <a:pPr indent="-292100" lvl="0" marL="457200" rtl="0" algn="l">
              <a:lnSpc>
                <a:spcPct val="90000"/>
              </a:lnSpc>
              <a:spcBef>
                <a:spcPts val="1000"/>
              </a:spcBef>
              <a:spcAft>
                <a:spcPts val="0"/>
              </a:spcAft>
              <a:buClr>
                <a:schemeClr val="dk1"/>
              </a:buClr>
              <a:buSzPts val="1800"/>
              <a:buNone/>
            </a:pPr>
            <a:r>
              <a:t/>
            </a:r>
            <a:endParaRPr/>
          </a:p>
        </p:txBody>
      </p:sp>
      <p:pic>
        <p:nvPicPr>
          <p:cNvPr id="172" name="Google Shape;172;p14"/>
          <p:cNvPicPr preferRelativeResize="0"/>
          <p:nvPr/>
        </p:nvPicPr>
        <p:blipFill rotWithShape="1">
          <a:blip r:embed="rId3">
            <a:alphaModFix/>
          </a:blip>
          <a:srcRect b="0" l="0" r="0" t="0"/>
          <a:stretch/>
        </p:blipFill>
        <p:spPr>
          <a:xfrm>
            <a:off x="457560" y="1333318"/>
            <a:ext cx="7414186" cy="419136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5"/>
          <p:cNvSpPr txBox="1"/>
          <p:nvPr>
            <p:ph type="title"/>
          </p:nvPr>
        </p:nvSpPr>
        <p:spPr>
          <a:xfrm>
            <a:off x="0" y="0"/>
            <a:ext cx="6404100" cy="914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lang="en-US" sz="2800"/>
              <a:t>Conclusion and Future Scope</a:t>
            </a:r>
            <a:endParaRPr sz="2800"/>
          </a:p>
        </p:txBody>
      </p:sp>
      <p:sp>
        <p:nvSpPr>
          <p:cNvPr id="179" name="Google Shape;179;p15"/>
          <p:cNvSpPr txBox="1"/>
          <p:nvPr>
            <p:ph idx="1" type="subTitle"/>
          </p:nvPr>
        </p:nvSpPr>
        <p:spPr>
          <a:xfrm>
            <a:off x="291275" y="1245020"/>
            <a:ext cx="8229300" cy="39774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2400"/>
              </a:spcBef>
              <a:spcAft>
                <a:spcPts val="0"/>
              </a:spcAft>
              <a:buClr>
                <a:schemeClr val="dk1"/>
              </a:buClr>
              <a:buSzPts val="1100"/>
              <a:buFont typeface="Arial"/>
              <a:buNone/>
            </a:pPr>
            <a:r>
              <a:t/>
            </a:r>
            <a:endParaRPr b="1" sz="2300"/>
          </a:p>
          <a:p>
            <a:pPr indent="0" lvl="0" marL="0" rtl="0" algn="l">
              <a:lnSpc>
                <a:spcPct val="115000"/>
              </a:lnSpc>
              <a:spcBef>
                <a:spcPts val="1200"/>
              </a:spcBef>
              <a:spcAft>
                <a:spcPts val="0"/>
              </a:spcAft>
              <a:buClr>
                <a:schemeClr val="dk1"/>
              </a:buClr>
              <a:buSzPts val="1100"/>
              <a:buFont typeface="Arial"/>
              <a:buNone/>
            </a:pPr>
            <a:r>
              <a:rPr lang="en-US" sz="1100"/>
              <a:t>The project successfully developed an AI-based musculoskeletal disorder detection system using Artificial Intelligence techniques. The framework integrates image preprocessing, pose estimation, feature extraction, and logistic Regression and SVM classification for accurate posture abnormality detection.</a:t>
            </a:r>
            <a:endParaRPr sz="1100"/>
          </a:p>
          <a:p>
            <a:pPr indent="0" lvl="0" marL="0" rtl="0" algn="l">
              <a:lnSpc>
                <a:spcPct val="115000"/>
              </a:lnSpc>
              <a:spcBef>
                <a:spcPts val="1200"/>
              </a:spcBef>
              <a:spcAft>
                <a:spcPts val="0"/>
              </a:spcAft>
              <a:buSzPts val="1100"/>
              <a:buNone/>
            </a:pPr>
            <a:r>
              <a:rPr lang="en-US" sz="1100"/>
              <a:t>Machine learning and deep learning models achieved high accuracy with low classification error. The system also provides personalized rehabilitation exercise recommendations through a web-based real-time application, making it an efficient and low-cost intelligent healthcare solution.</a:t>
            </a:r>
            <a:endParaRPr sz="1100"/>
          </a:p>
          <a:p>
            <a:pPr indent="0" lvl="0" marL="0" rtl="0" algn="l">
              <a:lnSpc>
                <a:spcPct val="115000"/>
              </a:lnSpc>
              <a:spcBef>
                <a:spcPts val="1200"/>
              </a:spcBef>
              <a:spcAft>
                <a:spcPts val="0"/>
              </a:spcAft>
              <a:buSzPts val="1100"/>
              <a:buNone/>
            </a:pPr>
            <a:r>
              <a:rPr lang="en-US" sz="1100"/>
              <a:t>In future, the system can be enhanced using advanced deep learning models, real-time webcam monitoring, wearable sensors, and mobile applications. More musculoskeletal disorders and larger datasets can be added to improve accuracy, scalability, and real-world healthcare applications.</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just">
              <a:lnSpc>
                <a:spcPct val="90000"/>
              </a:lnSpc>
              <a:spcBef>
                <a:spcPts val="1200"/>
              </a:spcBef>
              <a:spcAft>
                <a:spcPts val="0"/>
              </a:spcAft>
              <a:buSzPts val="1800"/>
              <a:buNone/>
            </a:pPr>
            <a:r>
              <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16"/>
          <p:cNvPicPr preferRelativeResize="0"/>
          <p:nvPr/>
        </p:nvPicPr>
        <p:blipFill rotWithShape="1">
          <a:blip r:embed="rId3">
            <a:alphaModFix/>
          </a:blip>
          <a:srcRect b="0" l="0" r="0" t="0"/>
          <a:stretch/>
        </p:blipFill>
        <p:spPr>
          <a:xfrm>
            <a:off x="100330" y="869950"/>
            <a:ext cx="8906510" cy="5351145"/>
          </a:xfrm>
          <a:prstGeom prst="rect">
            <a:avLst/>
          </a:prstGeom>
          <a:noFill/>
          <a:ln>
            <a:noFill/>
          </a:ln>
        </p:spPr>
      </p:pic>
      <p:sp>
        <p:nvSpPr>
          <p:cNvPr id="185" name="Google Shape;185;p16"/>
          <p:cNvSpPr txBox="1"/>
          <p:nvPr>
            <p:ph type="title"/>
          </p:nvPr>
        </p:nvSpPr>
        <p:spPr>
          <a:xfrm>
            <a:off x="0" y="17231"/>
            <a:ext cx="5486040" cy="879578"/>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4400"/>
              <a:buFont typeface="Arial"/>
              <a:buNone/>
            </a:pPr>
            <a:r>
              <a:rPr lang="en-US"/>
              <a:t>Thank You</a:t>
            </a:r>
            <a:endParaRPr/>
          </a:p>
        </p:txBody>
      </p:sp>
      <p:sp>
        <p:nvSpPr>
          <p:cNvPr id="186" name="Google Shape;186;p16"/>
          <p:cNvSpPr txBox="1"/>
          <p:nvPr/>
        </p:nvSpPr>
        <p:spPr>
          <a:xfrm>
            <a:off x="334645" y="1229995"/>
            <a:ext cx="8500110" cy="47498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1500"/>
              <a:buFont typeface="Times New Roman"/>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187" name="Google Shape;187;p16"/>
          <p:cNvSpPr txBox="1"/>
          <p:nvPr/>
        </p:nvSpPr>
        <p:spPr>
          <a:xfrm>
            <a:off x="883877" y="6065415"/>
            <a:ext cx="7521611"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Thank you for your attention. I would be pleased to address any questions you may have.</a:t>
            </a:r>
            <a:endParaRPr b="0" i="0" sz="1400" u="none" cap="none" strike="noStrike">
              <a:solidFill>
                <a:srgbClr val="000000"/>
              </a:solidFill>
              <a:latin typeface="Arial"/>
              <a:ea typeface="Arial"/>
              <a:cs typeface="Arial"/>
              <a:sym typeface="Arial"/>
            </a:endParaRPr>
          </a:p>
        </p:txBody>
      </p:sp>
      <p:sp>
        <p:nvSpPr>
          <p:cNvPr id="188" name="Google Shape;188;p16"/>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
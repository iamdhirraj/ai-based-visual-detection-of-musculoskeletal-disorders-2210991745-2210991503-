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46">
          <p15:clr>
            <a:srgbClr val="A4A3A4"/>
          </p15:clr>
        </p15:guide>
      </p15:sldGuideLst>
    </p:ext>
    <p:ext uri="GoogleSlidesCustomDataVersion2">
      <go:slidesCustomData xmlns:go="http://customooxmlschemas.google.com/" r:id="rId21" roundtripDataSignature="AMtx7miFRLctLGxYbG8SipwbwO6yR2J/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4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0e8083808_1_1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b0e8083808_1_18: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3b0e8083808_1_18: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0e8083808_1_3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b0e8083808_1_30: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3b0e8083808_1_30: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b1f227a16_0_2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b1f227a16_0_2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db1f227a16_0_28: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b1f227a16_0_3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b1f227a16_0_3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db1f227a16_0_36: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b1f227a16_0_5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b1f227a16_0_5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db1f227a16_0_5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b1f227a16_0_4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b1f227a16_0_4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b1f227a16_0_44: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b1f227a16_0_5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b1f227a16_0_5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b1f227a16_0_51: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1"/>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3"/>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5"/>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6"/>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6"/>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7"/>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8"/>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9"/>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9"/>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2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2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20"/>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0"/>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2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21"/>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21"/>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1"/>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1"/>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9"/>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9"/>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9"/>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9"/>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9"/>
          <p:cNvGrpSpPr/>
          <p:nvPr/>
        </p:nvGrpSpPr>
        <p:grpSpPr>
          <a:xfrm>
            <a:off x="6146640" y="0"/>
            <a:ext cx="2997000" cy="875880"/>
            <a:chOff x="6146640" y="0"/>
            <a:chExt cx="2997000" cy="875880"/>
          </a:xfrm>
        </p:grpSpPr>
        <p:sp>
          <p:nvSpPr>
            <p:cNvPr id="15" name="Google Shape;15;p9"/>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9"/>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9"/>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9"/>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9"/>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9"/>
          <p:cNvGrpSpPr/>
          <p:nvPr/>
        </p:nvGrpSpPr>
        <p:grpSpPr>
          <a:xfrm>
            <a:off x="6146640" y="0"/>
            <a:ext cx="2997000" cy="875880"/>
            <a:chOff x="6146640" y="0"/>
            <a:chExt cx="2997000" cy="875880"/>
          </a:xfrm>
        </p:grpSpPr>
        <p:sp>
          <p:nvSpPr>
            <p:cNvPr id="21" name="Google Shape;21;p9"/>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9"/>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9"/>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9"/>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9"/>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9"/>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9"/>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8" name="Google Shape;28;p9"/>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9" name="Google Shape;29;p9"/>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176463" y="978569"/>
            <a:ext cx="9496925" cy="5879432"/>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2000"/>
              <a:buFont typeface="Arial"/>
              <a:buNone/>
            </a:pPr>
            <a:r>
              <a:rPr b="1" i="0" lang="en-US" sz="2000" u="sng" cap="none" strike="noStrike">
                <a:solidFill>
                  <a:schemeClr val="dk1"/>
                </a:solidFill>
                <a:latin typeface="Times New Roman"/>
                <a:ea typeface="Times New Roman"/>
                <a:cs typeface="Times New Roman"/>
                <a:sym typeface="Times New Roman"/>
              </a:rPr>
              <a:t>Project Presentation of Co-Op Project Industry (Module-</a:t>
            </a:r>
            <a:r>
              <a:rPr b="1" lang="en-US" sz="2000" u="sng">
                <a:solidFill>
                  <a:schemeClr val="dk1"/>
                </a:solidFill>
                <a:latin typeface="Times New Roman"/>
                <a:ea typeface="Times New Roman"/>
                <a:cs typeface="Times New Roman"/>
                <a:sym typeface="Times New Roman"/>
              </a:rPr>
              <a:t>2</a:t>
            </a:r>
            <a:r>
              <a:rPr b="1" i="0" lang="en-US" sz="2000" u="sng"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2000"/>
              <a:buFont typeface="Arial"/>
              <a:buNone/>
            </a:pPr>
            <a:r>
              <a:rPr b="1" i="0" lang="en-US" sz="2000" u="sng" cap="none" strike="noStrike">
                <a:solidFill>
                  <a:schemeClr val="dk1"/>
                </a:solidFill>
                <a:latin typeface="Times New Roman"/>
                <a:ea typeface="Times New Roman"/>
                <a:cs typeface="Times New Roman"/>
                <a:sym typeface="Times New Roman"/>
              </a:rPr>
              <a:t>on</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900"/>
              <a:buFont typeface="Arial"/>
              <a:buNone/>
            </a:pPr>
            <a:r>
              <a:rPr b="1" lang="en-US" sz="2800" u="sng">
                <a:solidFill>
                  <a:srgbClr val="FF0000"/>
                </a:solidFill>
                <a:latin typeface="Times New Roman"/>
                <a:ea typeface="Times New Roman"/>
                <a:cs typeface="Times New Roman"/>
                <a:sym typeface="Times New Roman"/>
              </a:rPr>
              <a:t>AI-Based Musculoskeletal Disorder Detection</a:t>
            </a:r>
            <a:endParaRPr b="0" i="0" sz="23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   </a:t>
            </a:r>
            <a:r>
              <a:rPr b="0" i="0" lang="en-US" sz="1900" u="none" cap="none" strike="noStrike">
                <a:solidFill>
                  <a:schemeClr val="dk1"/>
                </a:solidFill>
                <a:latin typeface="Times New Roman"/>
                <a:ea typeface="Times New Roman"/>
                <a:cs typeface="Times New Roman"/>
                <a:sym typeface="Times New Roman"/>
              </a:rPr>
              <a:t>Dheeraj Sharma</a:t>
            </a:r>
            <a:r>
              <a:rPr lang="en-US" sz="1900">
                <a:solidFill>
                  <a:schemeClr val="dk1"/>
                </a:solidFill>
                <a:latin typeface="Times New Roman"/>
                <a:ea typeface="Times New Roman"/>
                <a:cs typeface="Times New Roman"/>
                <a:sym typeface="Times New Roman"/>
              </a:rPr>
              <a:t> </a:t>
            </a:r>
            <a:r>
              <a:rPr b="0" i="0" lang="en-US" sz="1900" u="none" cap="none" strike="noStrike">
                <a:solidFill>
                  <a:schemeClr val="dk1"/>
                </a:solidFill>
                <a:latin typeface="Times New Roman"/>
                <a:ea typeface="Times New Roman"/>
                <a:cs typeface="Times New Roman"/>
                <a:sym typeface="Times New Roman"/>
              </a:rPr>
              <a:t> 2210991503</a:t>
            </a:r>
            <a:endParaRPr b="0" i="0" sz="19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rPr lang="en-US" sz="1900">
                <a:solidFill>
                  <a:schemeClr val="dk1"/>
                </a:solidFill>
                <a:latin typeface="Times New Roman"/>
                <a:ea typeface="Times New Roman"/>
                <a:cs typeface="Times New Roman"/>
                <a:sym typeface="Times New Roman"/>
              </a:rPr>
              <a:t>   Kapil Tanwar      2210991745</a:t>
            </a:r>
            <a:endParaRPr sz="1900">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900"/>
              <a:buFont typeface="Arial"/>
              <a:buNone/>
            </a:pPr>
            <a:r>
              <a:rPr b="1" i="0" lang="en-US" sz="1900" u="sng" cap="none" strike="noStrike">
                <a:solidFill>
                  <a:srgbClr val="FF0000"/>
                </a:solidFill>
                <a:latin typeface="Times New Roman"/>
                <a:ea typeface="Times New Roman"/>
                <a:cs typeface="Times New Roman"/>
                <a:sym typeface="Times New Roman"/>
              </a:rPr>
              <a:t>Supervised by</a:t>
            </a:r>
            <a:r>
              <a:rPr b="1" i="0" lang="en-US" sz="1900" u="none" cap="none" strike="noStrike">
                <a:solidFill>
                  <a:srgbClr val="FF0000"/>
                </a:solidFill>
                <a:latin typeface="Times New Roman"/>
                <a:ea typeface="Times New Roman"/>
                <a:cs typeface="Times New Roman"/>
                <a:sym typeface="Times New Roman"/>
              </a:rPr>
              <a:t>:-</a:t>
            </a:r>
            <a:endParaRPr/>
          </a:p>
          <a:p>
            <a:pPr indent="0" lvl="0" marL="0" marR="0" rtl="0" algn="ctr">
              <a:lnSpc>
                <a:spcPct val="150000"/>
              </a:lnSpc>
              <a:spcBef>
                <a:spcPts val="0"/>
              </a:spcBef>
              <a:spcAft>
                <a:spcPts val="0"/>
              </a:spcAft>
              <a:buClr>
                <a:srgbClr val="000000"/>
              </a:buClr>
              <a:buSzPts val="1900"/>
              <a:buFont typeface="Arial"/>
              <a:buNone/>
            </a:pPr>
            <a:r>
              <a:rPr lang="en-US" sz="1900">
                <a:solidFill>
                  <a:schemeClr val="dk1"/>
                </a:solidFill>
                <a:latin typeface="Times New Roman"/>
                <a:ea typeface="Times New Roman"/>
                <a:cs typeface="Times New Roman"/>
                <a:sym typeface="Times New Roman"/>
              </a:rPr>
              <a:t>Simarjit </a:t>
            </a:r>
            <a:r>
              <a:rPr b="0" i="0" lang="en-US" sz="1900" u="none" cap="none" strike="noStrike">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Kaur</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
          <p:cNvPicPr preferRelativeResize="0"/>
          <p:nvPr/>
        </p:nvPicPr>
        <p:blipFill rotWithShape="1">
          <a:blip r:embed="rId3">
            <a:alphaModFix/>
          </a:blip>
          <a:srcRect b="0" l="0" r="0" t="0"/>
          <a:stretch/>
        </p:blipFill>
        <p:spPr>
          <a:xfrm>
            <a:off x="5364747" y="1979777"/>
            <a:ext cx="3267476" cy="3363676"/>
          </a:xfrm>
          <a:prstGeom prst="rect">
            <a:avLst/>
          </a:prstGeom>
          <a:noFill/>
          <a:ln>
            <a:noFill/>
          </a:ln>
        </p:spPr>
      </p:pic>
      <p:sp>
        <p:nvSpPr>
          <p:cNvPr id="90" name="Google Shape;90;p2"/>
          <p:cNvSpPr txBox="1"/>
          <p:nvPr>
            <p:ph type="title"/>
          </p:nvPr>
        </p:nvSpPr>
        <p:spPr>
          <a:xfrm>
            <a:off x="0" y="0"/>
            <a:ext cx="5486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    </a:t>
            </a:r>
            <a:r>
              <a:rPr lang="en-US" sz="3200">
                <a:latin typeface="Times New Roman"/>
                <a:ea typeface="Times New Roman"/>
                <a:cs typeface="Times New Roman"/>
                <a:sym typeface="Times New Roman"/>
              </a:rPr>
              <a:t>Content</a:t>
            </a:r>
            <a:endParaRPr/>
          </a:p>
        </p:txBody>
      </p:sp>
      <p:sp>
        <p:nvSpPr>
          <p:cNvPr id="91" name="Google Shape;91;p2"/>
          <p:cNvSpPr txBox="1"/>
          <p:nvPr>
            <p:ph idx="1" type="subTitle"/>
          </p:nvPr>
        </p:nvSpPr>
        <p:spPr>
          <a:xfrm>
            <a:off x="318025" y="1027800"/>
            <a:ext cx="7922700" cy="53565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1) </a:t>
            </a:r>
            <a:r>
              <a:rPr lang="en-US" sz="1800">
                <a:solidFill>
                  <a:srgbClr val="1B2022"/>
                </a:solidFill>
                <a:latin typeface="Times New Roman"/>
                <a:ea typeface="Times New Roman"/>
                <a:cs typeface="Times New Roman"/>
                <a:sym typeface="Times New Roman"/>
              </a:rPr>
              <a:t>Introduction to AI-Based Musculoskeletal Disorder Detection</a:t>
            </a:r>
            <a:endParaRPr/>
          </a:p>
          <a:p>
            <a:pPr indent="-342900" lvl="0" marL="45720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2) </a:t>
            </a:r>
            <a:r>
              <a:rPr lang="en-US" sz="1800">
                <a:solidFill>
                  <a:srgbClr val="1B2022"/>
                </a:solidFill>
                <a:latin typeface="Times New Roman"/>
                <a:ea typeface="Times New Roman"/>
                <a:cs typeface="Times New Roman"/>
                <a:sym typeface="Times New Roman"/>
              </a:rPr>
              <a:t>System Overview and Functional Responsibilities</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3) </a:t>
            </a:r>
            <a:r>
              <a:rPr lang="en-US" sz="1800">
                <a:solidFill>
                  <a:srgbClr val="1B2022"/>
                </a:solidFill>
                <a:latin typeface="Times New Roman"/>
                <a:ea typeface="Times New Roman"/>
                <a:cs typeface="Times New Roman"/>
                <a:sym typeface="Times New Roman"/>
              </a:rPr>
              <a:t>User Interface and Web-Based Interaction Module</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4) </a:t>
            </a:r>
            <a:r>
              <a:rPr lang="en-US" sz="1800">
                <a:solidFill>
                  <a:srgbClr val="1B2022"/>
                </a:solidFill>
                <a:latin typeface="Times New Roman"/>
                <a:ea typeface="Times New Roman"/>
                <a:cs typeface="Times New Roman"/>
                <a:sym typeface="Times New Roman"/>
              </a:rPr>
              <a:t>Data Acquisition and Preprocessing Techniques</a:t>
            </a:r>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b="0" i="0" lang="en-US" sz="1800" u="none" cap="none" strike="noStrike">
                <a:solidFill>
                  <a:srgbClr val="1B2022"/>
                </a:solidFill>
                <a:latin typeface="Times New Roman"/>
                <a:ea typeface="Times New Roman"/>
                <a:cs typeface="Times New Roman"/>
                <a:sym typeface="Times New Roman"/>
              </a:rPr>
              <a:t>5) </a:t>
            </a:r>
            <a:r>
              <a:rPr lang="en-US" sz="1800">
                <a:solidFill>
                  <a:srgbClr val="1B2022"/>
                </a:solidFill>
                <a:latin typeface="Times New Roman"/>
                <a:ea typeface="Times New Roman"/>
                <a:cs typeface="Times New Roman"/>
                <a:sym typeface="Times New Roman"/>
              </a:rPr>
              <a:t>Technology Stack and Tools Used</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6)  </a:t>
            </a:r>
            <a:r>
              <a:rPr lang="en-US" sz="1800">
                <a:solidFill>
                  <a:srgbClr val="1B2022"/>
                </a:solidFill>
                <a:latin typeface="Times New Roman"/>
                <a:ea typeface="Times New Roman"/>
                <a:cs typeface="Times New Roman"/>
                <a:sym typeface="Times New Roman"/>
              </a:rPr>
              <a:t>Model Development and Implementation Details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7)  </a:t>
            </a:r>
            <a:r>
              <a:rPr lang="en-US" sz="1800">
                <a:solidFill>
                  <a:srgbClr val="1B2022"/>
                </a:solidFill>
                <a:latin typeface="Times New Roman"/>
                <a:ea typeface="Times New Roman"/>
                <a:cs typeface="Times New Roman"/>
                <a:sym typeface="Times New Roman"/>
              </a:rPr>
              <a:t>Results, Performance Analysis, and Key Findings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8) </a:t>
            </a:r>
            <a:r>
              <a:rPr lang="en-US" sz="1800">
                <a:solidFill>
                  <a:srgbClr val="1B2022"/>
                </a:solidFill>
                <a:latin typeface="Times New Roman"/>
                <a:ea typeface="Times New Roman"/>
                <a:cs typeface="Times New Roman"/>
                <a:sym typeface="Times New Roman"/>
              </a:rPr>
              <a:t>Research Methodology and Workflow</a:t>
            </a:r>
            <a:r>
              <a:rPr lang="en-US" sz="1800">
                <a:solidFill>
                  <a:srgbClr val="1B2022"/>
                </a:solidFill>
                <a:latin typeface="Times New Roman"/>
                <a:ea typeface="Times New Roman"/>
                <a:cs typeface="Times New Roman"/>
                <a:sym typeface="Times New Roman"/>
              </a:rPr>
              <a:t>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9) </a:t>
            </a:r>
            <a:r>
              <a:rPr lang="en-US" sz="1800">
                <a:solidFill>
                  <a:srgbClr val="1B2022"/>
                </a:solidFill>
                <a:latin typeface="Times New Roman"/>
                <a:ea typeface="Times New Roman"/>
                <a:cs typeface="Times New Roman"/>
                <a:sym typeface="Times New Roman"/>
              </a:rPr>
              <a:t>Conclusion and Future Enhancements</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t/>
            </a:r>
            <a:endParaRPr sz="1800">
              <a:solidFill>
                <a:srgbClr val="1B202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1B2022"/>
              </a:buClr>
              <a:buSzPts val="1800"/>
              <a:buFont typeface="Times New Roman"/>
              <a:buNone/>
            </a:pPr>
            <a:r>
              <a:rPr lang="en-US" sz="1800">
                <a:solidFill>
                  <a:srgbClr val="1B2022"/>
                </a:solidFill>
                <a:latin typeface="Times New Roman"/>
                <a:ea typeface="Times New Roman"/>
                <a:cs typeface="Times New Roman"/>
                <a:sym typeface="Times New Roman"/>
              </a:rPr>
              <a:t>10) Snapshots</a:t>
            </a:r>
            <a:endParaRPr sz="1800">
              <a:solidFill>
                <a:srgbClr val="1B202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022"/>
              </a:buClr>
              <a:buSzPts val="3200"/>
              <a:buFont typeface="Times New Roman"/>
              <a:buNone/>
            </a:pPr>
            <a:r>
              <a:rPr b="0" i="0" lang="en-US" sz="3200" u="none" cap="none" strike="noStrike">
                <a:solidFill>
                  <a:srgbClr val="1B2022"/>
                </a:solidFill>
                <a:latin typeface="Times New Roman"/>
                <a:ea typeface="Times New Roman"/>
                <a:cs typeface="Times New Roman"/>
                <a:sym typeface="Times New Roman"/>
              </a:rPr>
              <a:t>Introduction</a:t>
            </a:r>
            <a:endParaRPr b="0" i="0" sz="1400" u="none" cap="none" strike="noStrike">
              <a:solidFill>
                <a:srgbClr val="000000"/>
              </a:solidFill>
              <a:latin typeface="Arial"/>
              <a:ea typeface="Arial"/>
              <a:cs typeface="Arial"/>
              <a:sym typeface="Arial"/>
            </a:endParaRPr>
          </a:p>
        </p:txBody>
      </p:sp>
      <p:sp>
        <p:nvSpPr>
          <p:cNvPr id="97" name="Google Shape;97;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8" name="Google Shape;98;p3"/>
          <p:cNvSpPr txBox="1"/>
          <p:nvPr/>
        </p:nvSpPr>
        <p:spPr>
          <a:xfrm>
            <a:off x="82004" y="1080250"/>
            <a:ext cx="8979992" cy="50023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rgbClr val="000000"/>
              </a:buClr>
              <a:buSzPts val="1100"/>
              <a:buFont typeface="Arial"/>
              <a:buNone/>
            </a:pPr>
            <a:r>
              <a:rPr lang="en-US" sz="1800">
                <a:solidFill>
                  <a:schemeClr val="dk1"/>
                </a:solidFill>
                <a:latin typeface="Times New Roman"/>
                <a:ea typeface="Times New Roman"/>
                <a:cs typeface="Times New Roman"/>
                <a:sym typeface="Times New Roman"/>
              </a:rPr>
              <a:t>Musculoskeletal disorders (MSDs) affect muscles, joints, and bones, causing pain and reduced mobility. These disorders are increasingly common due to poor posture, long screen time, and lack of physical activity. Traditional diagnosis methods require physical visits to healthcare professionals and expensive equipment, which limits early detection.</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100"/>
              <a:buFont typeface="Arial"/>
              <a:buNone/>
            </a:pPr>
            <a:r>
              <a:rPr lang="en-US" sz="1800">
                <a:solidFill>
                  <a:schemeClr val="dk1"/>
                </a:solidFill>
                <a:latin typeface="Times New Roman"/>
                <a:ea typeface="Times New Roman"/>
                <a:cs typeface="Times New Roman"/>
                <a:sym typeface="Times New Roman"/>
              </a:rPr>
              <a:t>To overcome these challenges, this research proposes an AI-based system that uses computer vision and deep learning techniques to automatically detect posture-related abnormalities. The system analyzes images or radiographic data and provides real-time detection along with personalized exercise recommendations. This approach aims to make healthcare more accessible, affordable, and efficient.</a:t>
            </a:r>
            <a:endParaRPr sz="1800">
              <a:solidFill>
                <a:schemeClr val="dk1"/>
              </a:solidFill>
              <a:latin typeface="Times New Roman"/>
              <a:ea typeface="Times New Roman"/>
              <a:cs typeface="Times New Roman"/>
              <a:sym typeface="Times New Roman"/>
            </a:endParaRPr>
          </a:p>
        </p:txBody>
      </p:sp>
      <p:sp>
        <p:nvSpPr>
          <p:cNvPr descr="TRP Rating' Case: ED Attaches Properties of 3 Television Channels" id="99" name="Google Shape;99;p3"/>
          <p:cNvSpPr/>
          <p:nvPr/>
        </p:nvSpPr>
        <p:spPr>
          <a:xfrm>
            <a:off x="4419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Internship png Images - Free Download on Freepik" id="104" name="Google Shape;104;p4"/>
          <p:cNvPicPr preferRelativeResize="0"/>
          <p:nvPr/>
        </p:nvPicPr>
        <p:blipFill rotWithShape="1">
          <a:blip r:embed="rId3">
            <a:alphaModFix/>
          </a:blip>
          <a:srcRect b="0" l="0" r="0" t="0"/>
          <a:stretch/>
        </p:blipFill>
        <p:spPr>
          <a:xfrm>
            <a:off x="4312325" y="3635420"/>
            <a:ext cx="4271064" cy="2845451"/>
          </a:xfrm>
          <a:prstGeom prst="rect">
            <a:avLst/>
          </a:prstGeom>
          <a:noFill/>
          <a:ln>
            <a:noFill/>
          </a:ln>
        </p:spPr>
      </p:pic>
      <p:sp>
        <p:nvSpPr>
          <p:cNvPr id="105" name="Google Shape;105;p4"/>
          <p:cNvSpPr txBox="1"/>
          <p:nvPr>
            <p:ph type="title"/>
          </p:nvPr>
        </p:nvSpPr>
        <p:spPr>
          <a:xfrm>
            <a:off x="70050" y="50"/>
            <a:ext cx="6345600" cy="9141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rgbClr val="1B2022"/>
              </a:buClr>
              <a:buSzPts val="2800"/>
              <a:buFont typeface="Times New Roman"/>
              <a:buNone/>
            </a:pPr>
            <a:r>
              <a:rPr lang="en-US" sz="2800">
                <a:solidFill>
                  <a:srgbClr val="1B2022"/>
                </a:solidFill>
                <a:latin typeface="Times New Roman"/>
                <a:ea typeface="Times New Roman"/>
                <a:cs typeface="Times New Roman"/>
                <a:sym typeface="Times New Roman"/>
              </a:rPr>
              <a:t>System Overview and Architecture Design</a:t>
            </a:r>
            <a:endParaRPr sz="2800"/>
          </a:p>
        </p:txBody>
      </p:sp>
      <p:sp>
        <p:nvSpPr>
          <p:cNvPr id="106" name="Google Shape;106;p4"/>
          <p:cNvSpPr txBox="1"/>
          <p:nvPr>
            <p:ph idx="1" type="subTitle"/>
          </p:nvPr>
        </p:nvSpPr>
        <p:spPr>
          <a:xfrm>
            <a:off x="241000" y="1006546"/>
            <a:ext cx="8342400" cy="3445500"/>
          </a:xfrm>
          <a:prstGeom prst="rect">
            <a:avLst/>
          </a:prstGeom>
          <a:noFill/>
          <a:ln>
            <a:noFill/>
          </a:ln>
        </p:spPr>
        <p:txBody>
          <a:bodyPr anchorCtr="0" anchor="ctr" bIns="0" lIns="0" spcFirstLastPara="1" rIns="0" wrap="square" tIns="0">
            <a:noAutofit/>
          </a:bodyPr>
          <a:lstStyle/>
          <a:p>
            <a:pPr indent="0" lvl="0" marL="0" marR="0" rtl="0" algn="just">
              <a:lnSpc>
                <a:spcPct val="90000"/>
              </a:lnSpc>
              <a:spcBef>
                <a:spcPts val="1200"/>
              </a:spcBef>
              <a:spcAft>
                <a:spcPts val="0"/>
              </a:spcAft>
              <a:buClr>
                <a:schemeClr val="dk1"/>
              </a:buClr>
              <a:buSzPts val="1500"/>
              <a:buFont typeface="Times New Roman"/>
              <a:buNone/>
            </a:pPr>
            <a:r>
              <a:rPr lang="en-US" sz="1800">
                <a:latin typeface="Times New Roman"/>
                <a:ea typeface="Times New Roman"/>
                <a:cs typeface="Times New Roman"/>
                <a:sym typeface="Times New Roman"/>
              </a:rPr>
              <a:t>The proposed system follows a modular and layered architecture designed to process input data efficiently and generate accurate outputs. The architecture includes multiple components such as data acquisition, preprocessing, feature extraction, classification, decision fusion, and recommendation generation.</a:t>
            </a:r>
            <a:endParaRPr sz="1800">
              <a:latin typeface="Times New Roman"/>
              <a:ea typeface="Times New Roman"/>
              <a:cs typeface="Times New Roman"/>
              <a:sym typeface="Times New Roman"/>
            </a:endParaRPr>
          </a:p>
          <a:p>
            <a:pPr indent="0" lvl="0" marL="0" marR="0" rtl="0" algn="just">
              <a:lnSpc>
                <a:spcPct val="90000"/>
              </a:lnSpc>
              <a:spcBef>
                <a:spcPts val="1200"/>
              </a:spcBef>
              <a:spcAft>
                <a:spcPts val="0"/>
              </a:spcAft>
              <a:buClr>
                <a:schemeClr val="dk1"/>
              </a:buClr>
              <a:buSzPts val="1500"/>
              <a:buFont typeface="Times New Roman"/>
              <a:buNone/>
            </a:pPr>
            <a:r>
              <a:t/>
            </a:r>
            <a:endParaRPr sz="1800">
              <a:latin typeface="Times New Roman"/>
              <a:ea typeface="Times New Roman"/>
              <a:cs typeface="Times New Roman"/>
              <a:sym typeface="Times New Roman"/>
            </a:endParaRPr>
          </a:p>
          <a:p>
            <a:pPr indent="0" lvl="0" marL="0" marR="0" rtl="0" algn="just">
              <a:lnSpc>
                <a:spcPct val="90000"/>
              </a:lnSpc>
              <a:spcBef>
                <a:spcPts val="1200"/>
              </a:spcBef>
              <a:spcAft>
                <a:spcPts val="0"/>
              </a:spcAft>
              <a:buClr>
                <a:schemeClr val="dk1"/>
              </a:buClr>
              <a:buSzPts val="1500"/>
              <a:buFont typeface="Times New Roman"/>
              <a:buNone/>
            </a:pPr>
            <a:r>
              <a:rPr lang="en-US" sz="1800">
                <a:latin typeface="Times New Roman"/>
                <a:ea typeface="Times New Roman"/>
                <a:cs typeface="Times New Roman"/>
                <a:sym typeface="Times New Roman"/>
              </a:rPr>
              <a:t>As shown in the architecture diagram, the system first collects image data, processes it, and then applies machine learning and deep learning models to detect abnormalities. The system integrates multiple models to improve accuracy and combines their outputs to produce a final diagnosis. This structured design ensures scalability, reliability, and real-time performance.</a:t>
            </a:r>
            <a:endParaRPr sz="1800">
              <a:latin typeface="Times New Roman"/>
              <a:ea typeface="Times New Roman"/>
              <a:cs typeface="Times New Roman"/>
              <a:sym typeface="Times New Roman"/>
            </a:endParaRPr>
          </a:p>
          <a:p>
            <a:pPr indent="0" lvl="0" marL="0" marR="0" rtl="0" algn="just">
              <a:lnSpc>
                <a:spcPct val="90000"/>
              </a:lnSpc>
              <a:spcBef>
                <a:spcPts val="1200"/>
              </a:spcBef>
              <a:spcAft>
                <a:spcPts val="0"/>
              </a:spcAft>
              <a:buClr>
                <a:schemeClr val="dk1"/>
              </a:buClr>
              <a:buSzPts val="1500"/>
              <a:buFont typeface="Times New Roman"/>
              <a:buNone/>
            </a:pPr>
            <a:r>
              <a:t/>
            </a:r>
            <a:endParaRPr sz="1800">
              <a:latin typeface="Times New Roman"/>
              <a:ea typeface="Times New Roman"/>
              <a:cs typeface="Times New Roman"/>
              <a:sym typeface="Times New Roman"/>
            </a:endParaRPr>
          </a:p>
          <a:p>
            <a:pPr indent="0" lvl="0" marL="0" marR="0" rtl="0" algn="just">
              <a:lnSpc>
                <a:spcPct val="90000"/>
              </a:lnSpc>
              <a:spcBef>
                <a:spcPts val="1200"/>
              </a:spcBef>
              <a:spcAft>
                <a:spcPts val="0"/>
              </a:spcAft>
              <a:buClr>
                <a:schemeClr val="dk1"/>
              </a:buClr>
              <a:buSzPts val="1500"/>
              <a:buFont typeface="Times New Roman"/>
              <a:buNone/>
            </a:pPr>
            <a:r>
              <a:t/>
            </a:r>
            <a:endParaRPr sz="1800">
              <a:latin typeface="Times New Roman"/>
              <a:ea typeface="Times New Roman"/>
              <a:cs typeface="Times New Roman"/>
              <a:sym typeface="Times New Roman"/>
            </a:endParaRPr>
          </a:p>
        </p:txBody>
      </p:sp>
      <p:sp>
        <p:nvSpPr>
          <p:cNvPr id="107" name="Google Shape;107;p4"/>
          <p:cNvSpPr/>
          <p:nvPr/>
        </p:nvSpPr>
        <p:spPr>
          <a:xfrm>
            <a:off x="337775" y="1448977"/>
            <a:ext cx="3002997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4"/>
          <p:cNvSpPr txBox="1"/>
          <p:nvPr/>
        </p:nvSpPr>
        <p:spPr>
          <a:xfrm>
            <a:off x="1132764" y="6318914"/>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4"/>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0" y="0"/>
            <a:ext cx="64569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3200"/>
              <a:buFont typeface="Times New Roman"/>
              <a:buNone/>
            </a:pPr>
            <a:r>
              <a:rPr lang="en-US" sz="3200">
                <a:latin typeface="Times New Roman"/>
                <a:ea typeface="Times New Roman"/>
                <a:cs typeface="Times New Roman"/>
                <a:sym typeface="Times New Roman"/>
              </a:rPr>
              <a:t> User Interface and Web-Based Interaction Module</a:t>
            </a:r>
            <a:endParaRPr sz="2800"/>
          </a:p>
        </p:txBody>
      </p:sp>
      <p:sp>
        <p:nvSpPr>
          <p:cNvPr id="115" name="Google Shape;115;p5"/>
          <p:cNvSpPr txBox="1"/>
          <p:nvPr/>
        </p:nvSpPr>
        <p:spPr>
          <a:xfrm>
            <a:off x="272425" y="960169"/>
            <a:ext cx="8491200" cy="4171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The system provides a user-friendly web interface that allows users to upload images for analysis. Once the image is uploaded, the system processes it and displays the results, including detected disorder, affected body part, confidence score, and recommended exercises.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The interface is simple and interactive, making it accessible even to non-technical users. The output is presented in a clear format, including visual reports and exercise guidance. This module plays a crucial role in improving user experience and ensuring practical usability of the system.</a:t>
            </a:r>
            <a:endParaRPr sz="18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4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0" y="0"/>
            <a:ext cx="64710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1B2022"/>
              </a:buClr>
              <a:buSzPts val="3200"/>
              <a:buFont typeface="Times New Roman"/>
              <a:buNone/>
            </a:pPr>
            <a:r>
              <a:rPr lang="en-US" sz="3200">
                <a:solidFill>
                  <a:srgbClr val="1B2022"/>
                </a:solidFill>
                <a:latin typeface="Times New Roman"/>
                <a:ea typeface="Times New Roman"/>
                <a:cs typeface="Times New Roman"/>
                <a:sym typeface="Times New Roman"/>
              </a:rPr>
              <a:t>Data Acquisition and Preprocessing Techniques</a:t>
            </a:r>
            <a:endParaRPr sz="3200"/>
          </a:p>
        </p:txBody>
      </p:sp>
      <p:sp>
        <p:nvSpPr>
          <p:cNvPr id="121" name="Google Shape;121;p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pic>
        <p:nvPicPr>
          <p:cNvPr id="122" name="Google Shape;122;p6"/>
          <p:cNvPicPr preferRelativeResize="0"/>
          <p:nvPr/>
        </p:nvPicPr>
        <p:blipFill rotWithShape="1">
          <a:blip r:embed="rId3">
            <a:alphaModFix/>
          </a:blip>
          <a:srcRect b="0" l="0" r="0" t="0"/>
          <a:stretch/>
        </p:blipFill>
        <p:spPr>
          <a:xfrm>
            <a:off x="6639845" y="1948790"/>
            <a:ext cx="2046606" cy="1922781"/>
          </a:xfrm>
          <a:prstGeom prst="rect">
            <a:avLst/>
          </a:prstGeom>
          <a:noFill/>
          <a:ln>
            <a:noFill/>
          </a:ln>
        </p:spPr>
      </p:pic>
      <p:sp>
        <p:nvSpPr>
          <p:cNvPr id="123" name="Google Shape;123;p6"/>
          <p:cNvSpPr txBox="1"/>
          <p:nvPr/>
        </p:nvSpPr>
        <p:spPr>
          <a:xfrm>
            <a:off x="304850" y="1267263"/>
            <a:ext cx="8605800" cy="4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The system uses datasets such as the MURA radiographic dataset and EMG dataset for training and evaluation. These datasets contain labeled images and signals representing normal and abnormal conditions.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Before feeding the data into models, preprocessing steps are applied. These include resizing images, converting them to grayscale, normalizing pixel values, and extracting feature vectors. Data augmentation techniques like rotation and noise addition are also used to improve model generalization. These steps ensure consistency, reduce noise, and enhance the performance of machine learning models.</a:t>
            </a:r>
            <a:endParaRPr sz="1800">
              <a:solidFill>
                <a:schemeClr val="dk1"/>
              </a:solidFill>
              <a:latin typeface="Times New Roman"/>
              <a:ea typeface="Times New Roman"/>
              <a:cs typeface="Times New Roman"/>
              <a:sym typeface="Times New Roman"/>
            </a:endParaRPr>
          </a:p>
          <a:p>
            <a:pPr indent="0" lvl="0" marL="457200" marR="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7"/>
          <p:cNvSpPr/>
          <p:nvPr/>
        </p:nvSpPr>
        <p:spPr>
          <a:xfrm>
            <a:off x="152400" y="1524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7"/>
          <p:cNvSpPr txBox="1"/>
          <p:nvPr>
            <p:ph type="title"/>
          </p:nvPr>
        </p:nvSpPr>
        <p:spPr>
          <a:xfrm>
            <a:off x="675172" y="152400"/>
            <a:ext cx="5339400" cy="523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lang="en-US" sz="2800">
                <a:solidFill>
                  <a:srgbClr val="1B2022"/>
                </a:solidFill>
                <a:latin typeface="Times New Roman"/>
                <a:ea typeface="Times New Roman"/>
                <a:cs typeface="Times New Roman"/>
                <a:sym typeface="Times New Roman"/>
              </a:rPr>
              <a:t>Technology Stack and Tools Used</a:t>
            </a:r>
            <a:endParaRPr i="0" sz="2800" u="none" cap="none" strike="noStrike">
              <a:solidFill>
                <a:schemeClr val="dk1"/>
              </a:solidFill>
              <a:latin typeface="Times New Roman"/>
              <a:ea typeface="Times New Roman"/>
              <a:cs typeface="Times New Roman"/>
              <a:sym typeface="Times New Roman"/>
            </a:endParaRPr>
          </a:p>
        </p:txBody>
      </p:sp>
      <p:sp>
        <p:nvSpPr>
          <p:cNvPr id="131" name="Google Shape;131;p7"/>
          <p:cNvSpPr txBox="1"/>
          <p:nvPr/>
        </p:nvSpPr>
        <p:spPr>
          <a:xfrm>
            <a:off x="263039" y="965317"/>
            <a:ext cx="8058000" cy="3698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The system is built using a combination of modern tools and technologies. Libraries such as OpenCV and NumPy are used for image processing and data manipulation. Machine learning and deep learning frameworks like TensorFlow are used to build and train models.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Various algorithms are implemented, including Logistic Regression, Random Forest, Decision Tree, KNN, and advanced deep learning models such as CNN, VGG, ResNet, and DenseNet. These technologies enable efficient data processing, accurate prediction, and scalable system development.</a:t>
            </a:r>
            <a:endParaRPr sz="1800">
              <a:solidFill>
                <a:schemeClr val="dk1"/>
              </a:solidFill>
              <a:latin typeface="Times New Roman"/>
              <a:ea typeface="Times New Roman"/>
              <a:cs typeface="Times New Roman"/>
              <a:sym typeface="Times New Roman"/>
            </a:endParaRPr>
          </a:p>
          <a:p>
            <a:pPr indent="-190500" lvl="0" marL="342900" marR="0" rtl="0" algn="l">
              <a:lnSpc>
                <a:spcPct val="100000"/>
              </a:lnSpc>
              <a:spcBef>
                <a:spcPts val="1200"/>
              </a:spcBef>
              <a:spcAft>
                <a:spcPts val="0"/>
              </a:spcAft>
              <a:buClr>
                <a:schemeClr val="dk1"/>
              </a:buClr>
              <a:buSzPts val="2400"/>
              <a:buFont typeface="Noto Sans Symbols"/>
              <a:buNone/>
            </a:pPr>
            <a:r>
              <a:t/>
            </a:r>
            <a:endParaRPr sz="1800">
              <a:solidFill>
                <a:schemeClr val="dk1"/>
              </a:solidFill>
              <a:latin typeface="Times New Roman"/>
              <a:ea typeface="Times New Roman"/>
              <a:cs typeface="Times New Roman"/>
              <a:sym typeface="Times New Roman"/>
            </a:endParaRPr>
          </a:p>
        </p:txBody>
      </p:sp>
      <p:sp>
        <p:nvSpPr>
          <p:cNvPr id="132" name="Google Shape;132;p7"/>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0e8083808_1_18"/>
          <p:cNvSpPr txBox="1"/>
          <p:nvPr>
            <p:ph type="title"/>
          </p:nvPr>
        </p:nvSpPr>
        <p:spPr>
          <a:xfrm>
            <a:off x="241000" y="0"/>
            <a:ext cx="6050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lang="en-US" sz="2800">
                <a:latin typeface="Times New Roman"/>
                <a:ea typeface="Times New Roman"/>
                <a:cs typeface="Times New Roman"/>
                <a:sym typeface="Times New Roman"/>
              </a:rPr>
              <a:t>Model Development and Implementation Details</a:t>
            </a:r>
            <a:endParaRPr sz="2800">
              <a:latin typeface="Times New Roman"/>
              <a:ea typeface="Times New Roman"/>
              <a:cs typeface="Times New Roman"/>
              <a:sym typeface="Times New Roman"/>
            </a:endParaRPr>
          </a:p>
        </p:txBody>
      </p:sp>
      <p:sp>
        <p:nvSpPr>
          <p:cNvPr id="139" name="Google Shape;139;g3b0e8083808_1_18"/>
          <p:cNvSpPr txBox="1"/>
          <p:nvPr>
            <p:ph idx="1" type="subTitle"/>
          </p:nvPr>
        </p:nvSpPr>
        <p:spPr>
          <a:xfrm>
            <a:off x="254125" y="1230550"/>
            <a:ext cx="8527800" cy="3940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800">
                <a:latin typeface="Times New Roman"/>
                <a:ea typeface="Times New Roman"/>
                <a:cs typeface="Times New Roman"/>
                <a:sym typeface="Times New Roman"/>
              </a:rPr>
              <a:t>The system uses both traditional machine learning models and deep learning architectures for classification tasks. Separate models are trained for body part identification and disorder detection.</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latin typeface="Times New Roman"/>
                <a:ea typeface="Times New Roman"/>
                <a:cs typeface="Times New Roman"/>
                <a:sym typeface="Times New Roman"/>
              </a:rPr>
              <a:t>During implementation, data is split into training and testing sets. Models are trained using feature vectors and evaluated based on performance metrics. Deep learning models automatically learn complex patterns from image data, making them more effective in detecting abnormalities.</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1800">
                <a:latin typeface="Times New Roman"/>
                <a:ea typeface="Times New Roman"/>
                <a:cs typeface="Times New Roman"/>
                <a:sym typeface="Times New Roman"/>
              </a:rPr>
              <a:t>The best-performing models are selected and saved for deployment. This hybrid approach improves accuracy and ensures reliable predictions.</a:t>
            </a:r>
            <a:endParaRPr sz="1800">
              <a:latin typeface="Times New Roman"/>
              <a:ea typeface="Times New Roman"/>
              <a:cs typeface="Times New Roman"/>
              <a:sym typeface="Times New Roman"/>
            </a:endParaRPr>
          </a:p>
          <a:p>
            <a:pPr indent="0" lvl="0" marL="0" rtl="0" algn="l">
              <a:lnSpc>
                <a:spcPct val="90000"/>
              </a:lnSpc>
              <a:spcBef>
                <a:spcPts val="1200"/>
              </a:spcBef>
              <a:spcAft>
                <a:spcPts val="0"/>
              </a:spcAft>
              <a:buSzPts val="1800"/>
              <a:buNone/>
            </a:pPr>
            <a:r>
              <a:t/>
            </a:r>
            <a:endParaRPr sz="1800">
              <a:latin typeface="Times New Roman"/>
              <a:ea typeface="Times New Roman"/>
              <a:cs typeface="Times New Roman"/>
              <a:sym typeface="Times New Roman"/>
            </a:endParaRPr>
          </a:p>
        </p:txBody>
      </p:sp>
      <p:sp>
        <p:nvSpPr>
          <p:cNvPr id="140" name="Google Shape;140;g3b0e8083808_1_18"/>
          <p:cNvSpPr txBox="1"/>
          <p:nvPr/>
        </p:nvSpPr>
        <p:spPr>
          <a:xfrm>
            <a:off x="1985325" y="1686950"/>
            <a:ext cx="6610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b0e8083808_1_30"/>
          <p:cNvSpPr txBox="1"/>
          <p:nvPr>
            <p:ph type="title"/>
          </p:nvPr>
        </p:nvSpPr>
        <p:spPr>
          <a:xfrm>
            <a:off x="0" y="0"/>
            <a:ext cx="6443100" cy="914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lang="en-US" sz="2800">
                <a:latin typeface="Times New Roman"/>
                <a:ea typeface="Times New Roman"/>
                <a:cs typeface="Times New Roman"/>
                <a:sym typeface="Times New Roman"/>
              </a:rPr>
              <a:t>Results, Performance Analysis, and Key Findings</a:t>
            </a:r>
            <a:endParaRPr sz="2800">
              <a:latin typeface="Times New Roman"/>
              <a:ea typeface="Times New Roman"/>
              <a:cs typeface="Times New Roman"/>
              <a:sym typeface="Times New Roman"/>
            </a:endParaRPr>
          </a:p>
        </p:txBody>
      </p:sp>
      <p:sp>
        <p:nvSpPr>
          <p:cNvPr id="147" name="Google Shape;147;g3b0e8083808_1_30"/>
          <p:cNvSpPr txBox="1"/>
          <p:nvPr>
            <p:ph idx="1" type="subTitle"/>
          </p:nvPr>
        </p:nvSpPr>
        <p:spPr>
          <a:xfrm>
            <a:off x="169425" y="1099495"/>
            <a:ext cx="8229300" cy="3977400"/>
          </a:xfrm>
          <a:prstGeom prst="rect">
            <a:avLst/>
          </a:prstGeom>
          <a:noFill/>
          <a:ln>
            <a:noFill/>
          </a:ln>
        </p:spPr>
        <p:txBody>
          <a:bodyPr anchorCtr="0" anchor="ctr" bIns="0" lIns="0" spcFirstLastPara="1" rIns="0" wrap="square" tIns="0">
            <a:noAutofit/>
          </a:bodyPr>
          <a:lstStyle/>
          <a:p>
            <a:pPr indent="-406400" lvl="0" marL="457200" rtl="0" algn="l">
              <a:lnSpc>
                <a:spcPct val="115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The system demonstrates high accuracy in detecting musculoskeletal disorders. Performance is evaluated using metrics such as accuracy, precision, recall, F1-score, and ROC-AUC.</a:t>
            </a:r>
            <a:endParaRPr sz="18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As shown in the confusion matrix, most predictions are correct with minimal errors. The training and validation graphs also indicate strong model performance with low overfitting. Deep learning models like DenseNet and ResNet outperform traditional models in classification tasks.</a:t>
            </a:r>
            <a:endParaRPr sz="1800">
              <a:latin typeface="Times New Roman"/>
              <a:ea typeface="Times New Roman"/>
              <a:cs typeface="Times New Roman"/>
              <a:sym typeface="Times New Roman"/>
            </a:endParaRPr>
          </a:p>
          <a:p>
            <a:pPr indent="-406400" lvl="0" marL="457200" rtl="0" algn="l">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Additionally, the system successfully provides real-time predictions and personalized exercise recommendations, making it both a diagnostic and assistive tool.</a:t>
            </a:r>
            <a:endParaRPr sz="18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db1f227a16_0_28"/>
          <p:cNvSpPr txBox="1"/>
          <p:nvPr>
            <p:ph type="title"/>
          </p:nvPr>
        </p:nvSpPr>
        <p:spPr>
          <a:xfrm>
            <a:off x="0" y="0"/>
            <a:ext cx="64167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2800"/>
              <a:t>Research Methodology and Workflow</a:t>
            </a:r>
            <a:endParaRPr sz="2800"/>
          </a:p>
        </p:txBody>
      </p:sp>
      <p:sp>
        <p:nvSpPr>
          <p:cNvPr id="154" name="Google Shape;154;g3db1f227a16_0_28"/>
          <p:cNvSpPr txBox="1"/>
          <p:nvPr>
            <p:ph idx="1" type="subTitle"/>
          </p:nvPr>
        </p:nvSpPr>
        <p:spPr>
          <a:xfrm>
            <a:off x="249800" y="1604520"/>
            <a:ext cx="8229300" cy="39774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800"/>
              <a:t>The methodology of the system follows a structured workflow:</a:t>
            </a:r>
            <a:endParaRPr sz="1800"/>
          </a:p>
          <a:p>
            <a:pPr indent="-234950" lvl="0" marL="457200" rtl="0" algn="l">
              <a:lnSpc>
                <a:spcPct val="115000"/>
              </a:lnSpc>
              <a:spcBef>
                <a:spcPts val="1200"/>
              </a:spcBef>
              <a:spcAft>
                <a:spcPts val="0"/>
              </a:spcAft>
              <a:buSzPts val="100"/>
              <a:buAutoNum type="arabicPeriod"/>
            </a:pPr>
            <a:r>
              <a:rPr lang="en-US" sz="1800"/>
              <a:t>Data acquisition from datasets</a:t>
            </a:r>
            <a:endParaRPr sz="1800"/>
          </a:p>
          <a:p>
            <a:pPr indent="-234950" lvl="0" marL="457200" rtl="0" algn="l">
              <a:lnSpc>
                <a:spcPct val="115000"/>
              </a:lnSpc>
              <a:spcBef>
                <a:spcPts val="0"/>
              </a:spcBef>
              <a:spcAft>
                <a:spcPts val="0"/>
              </a:spcAft>
              <a:buSzPts val="100"/>
              <a:buAutoNum type="arabicPeriod"/>
            </a:pPr>
            <a:r>
              <a:rPr lang="en-US" sz="1800"/>
              <a:t>Image preprocessing and feature extraction</a:t>
            </a:r>
            <a:endParaRPr sz="1800"/>
          </a:p>
          <a:p>
            <a:pPr indent="-234950" lvl="0" marL="457200" rtl="0" algn="l">
              <a:lnSpc>
                <a:spcPct val="115000"/>
              </a:lnSpc>
              <a:spcBef>
                <a:spcPts val="0"/>
              </a:spcBef>
              <a:spcAft>
                <a:spcPts val="0"/>
              </a:spcAft>
              <a:buSzPts val="100"/>
              <a:buAutoNum type="arabicPeriod"/>
            </a:pPr>
            <a:r>
              <a:rPr lang="en-US" sz="1800"/>
              <a:t>Model training using ML and DL algorithms</a:t>
            </a:r>
            <a:endParaRPr sz="1800"/>
          </a:p>
          <a:p>
            <a:pPr indent="-234950" lvl="0" marL="457200" rtl="0" algn="l">
              <a:lnSpc>
                <a:spcPct val="115000"/>
              </a:lnSpc>
              <a:spcBef>
                <a:spcPts val="0"/>
              </a:spcBef>
              <a:spcAft>
                <a:spcPts val="0"/>
              </a:spcAft>
              <a:buSzPts val="100"/>
              <a:buAutoNum type="arabicPeriod"/>
            </a:pPr>
            <a:r>
              <a:rPr lang="en-US" sz="1800"/>
              <a:t>Model evaluation using performance metrics</a:t>
            </a:r>
            <a:endParaRPr sz="1800"/>
          </a:p>
          <a:p>
            <a:pPr indent="-234950" lvl="0" marL="457200" rtl="0" algn="l">
              <a:lnSpc>
                <a:spcPct val="115000"/>
              </a:lnSpc>
              <a:spcBef>
                <a:spcPts val="0"/>
              </a:spcBef>
              <a:spcAft>
                <a:spcPts val="0"/>
              </a:spcAft>
              <a:buSzPts val="100"/>
              <a:buAutoNum type="arabicPeriod"/>
            </a:pPr>
            <a:r>
              <a:rPr lang="en-US" sz="1800"/>
              <a:t>Prediction and disorder detection</a:t>
            </a:r>
            <a:endParaRPr sz="1800"/>
          </a:p>
          <a:p>
            <a:pPr indent="-234950" lvl="0" marL="457200" rtl="0" algn="l">
              <a:lnSpc>
                <a:spcPct val="115000"/>
              </a:lnSpc>
              <a:spcBef>
                <a:spcPts val="0"/>
              </a:spcBef>
              <a:spcAft>
                <a:spcPts val="0"/>
              </a:spcAft>
              <a:buSzPts val="100"/>
              <a:buAutoNum type="arabicPeriod"/>
            </a:pPr>
            <a:r>
              <a:rPr lang="en-US" sz="1800"/>
              <a:t>Exercise recommendation generation</a:t>
            </a:r>
            <a:endParaRPr sz="1800"/>
          </a:p>
          <a:p>
            <a:pPr indent="-234950" lvl="0" marL="457200" rtl="0" algn="l">
              <a:lnSpc>
                <a:spcPct val="115000"/>
              </a:lnSpc>
              <a:spcBef>
                <a:spcPts val="0"/>
              </a:spcBef>
              <a:spcAft>
                <a:spcPts val="0"/>
              </a:spcAft>
              <a:buSzPts val="100"/>
              <a:buAutoNum type="arabicPeriod"/>
            </a:pPr>
            <a:r>
              <a:rPr lang="en-US" sz="1800"/>
              <a:t>Output visualization and reporting</a:t>
            </a:r>
            <a:endParaRPr sz="1800"/>
          </a:p>
          <a:p>
            <a:pPr indent="0" lvl="0" marL="45720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Clr>
                <a:schemeClr val="dk1"/>
              </a:buClr>
              <a:buSzPts val="1100"/>
              <a:buFont typeface="Arial"/>
              <a:buNone/>
            </a:pPr>
            <a:r>
              <a:rPr lang="en-US" sz="1800"/>
              <a:t>This step-by-step approach ensures systematic development and accurate results. The workflow integrates multiple stages into a single pipeline, making the system efficient and easy to use.</a:t>
            </a:r>
            <a:endParaRPr sz="1800"/>
          </a:p>
          <a:p>
            <a:pPr indent="0" lvl="0" marL="0" rtl="0" algn="l">
              <a:spcBef>
                <a:spcPts val="120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db1f227a16_0_36"/>
          <p:cNvSpPr txBox="1"/>
          <p:nvPr>
            <p:ph type="title"/>
          </p:nvPr>
        </p:nvSpPr>
        <p:spPr>
          <a:xfrm>
            <a:off x="0" y="0"/>
            <a:ext cx="64041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2800"/>
              <a:t>Conclusion and Future Enhancements</a:t>
            </a:r>
            <a:endParaRPr sz="2800"/>
          </a:p>
        </p:txBody>
      </p:sp>
      <p:sp>
        <p:nvSpPr>
          <p:cNvPr id="161" name="Google Shape;161;g3db1f227a16_0_36"/>
          <p:cNvSpPr txBox="1"/>
          <p:nvPr>
            <p:ph idx="1" type="subTitle"/>
          </p:nvPr>
        </p:nvSpPr>
        <p:spPr>
          <a:xfrm>
            <a:off x="291275" y="1245020"/>
            <a:ext cx="8229300" cy="39774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800"/>
              <a:t>The proposed system successfully demonstrates the use of artificial intelligence for detecting musculoskeletal disorders and providing personalized exercise recommendations. It reduces dependency on manual diagnosis and enables early detection of posture-related issues.</a:t>
            </a:r>
            <a:endParaRPr sz="1800"/>
          </a:p>
          <a:p>
            <a:pPr indent="0" lvl="0" marL="0" rtl="0" algn="l">
              <a:lnSpc>
                <a:spcPct val="115000"/>
              </a:lnSpc>
              <a:spcBef>
                <a:spcPts val="1200"/>
              </a:spcBef>
              <a:spcAft>
                <a:spcPts val="0"/>
              </a:spcAft>
              <a:buClr>
                <a:schemeClr val="dk1"/>
              </a:buClr>
              <a:buSzPts val="1100"/>
              <a:buFont typeface="Arial"/>
              <a:buNone/>
            </a:pPr>
            <a:r>
              <a:rPr lang="en-US" sz="1800"/>
              <a:t>The system is efficient, scalable, and user-friendly, making it suitable for real-world healthcare applications. However, there are some limitations, such as dependency on image quality and environmental conditions.</a:t>
            </a:r>
            <a:endParaRPr sz="1800"/>
          </a:p>
          <a:p>
            <a:pPr indent="0" lvl="0" marL="0" rtl="0" algn="l">
              <a:lnSpc>
                <a:spcPct val="115000"/>
              </a:lnSpc>
              <a:spcBef>
                <a:spcPts val="1200"/>
              </a:spcBef>
              <a:spcAft>
                <a:spcPts val="0"/>
              </a:spcAft>
              <a:buClr>
                <a:schemeClr val="dk1"/>
              </a:buClr>
              <a:buSzPts val="1100"/>
              <a:buFont typeface="Arial"/>
              <a:buNone/>
            </a:pPr>
            <a:r>
              <a:rPr lang="en-US" sz="1800"/>
              <a:t>Future improvements may include expanding the dataset, integrating wearable devices, improving personalization using patient-specific data, and deploying the system as a mobile or cloud-based application. These enhancements can further improve accuracy and usability.</a:t>
            </a:r>
            <a:endParaRPr sz="1800"/>
          </a:p>
          <a:p>
            <a:pPr indent="0" lvl="0" marL="0" rtl="0" algn="l">
              <a:spcBef>
                <a:spcPts val="120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db1f227a16_0_57"/>
          <p:cNvSpPr txBox="1"/>
          <p:nvPr>
            <p:ph type="title"/>
          </p:nvPr>
        </p:nvSpPr>
        <p:spPr>
          <a:xfrm>
            <a:off x="0" y="0"/>
            <a:ext cx="54861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2800"/>
              <a:t>SnapShots</a:t>
            </a:r>
            <a:endParaRPr sz="2800"/>
          </a:p>
        </p:txBody>
      </p:sp>
      <p:pic>
        <p:nvPicPr>
          <p:cNvPr id="168" name="Google Shape;168;g3db1f227a16_0_57" title="Screenshot 2026-04-30 at 9.52.35 PM.png"/>
          <p:cNvPicPr preferRelativeResize="0"/>
          <p:nvPr/>
        </p:nvPicPr>
        <p:blipFill>
          <a:blip r:embed="rId3">
            <a:alphaModFix/>
          </a:blip>
          <a:stretch>
            <a:fillRect/>
          </a:stretch>
        </p:blipFill>
        <p:spPr>
          <a:xfrm>
            <a:off x="457200" y="1184976"/>
            <a:ext cx="7510175" cy="4968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db1f227a16_0_44"/>
          <p:cNvSpPr txBox="1"/>
          <p:nvPr>
            <p:ph type="title"/>
          </p:nvPr>
        </p:nvSpPr>
        <p:spPr>
          <a:xfrm>
            <a:off x="0" y="0"/>
            <a:ext cx="54861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2800"/>
              <a:t>Snapshots</a:t>
            </a:r>
            <a:endParaRPr sz="2800"/>
          </a:p>
        </p:txBody>
      </p:sp>
      <p:pic>
        <p:nvPicPr>
          <p:cNvPr id="175" name="Google Shape;175;g3db1f227a16_0_44" title="Screenshot 2026-04-30 at 9.50.54 PM.png"/>
          <p:cNvPicPr preferRelativeResize="0"/>
          <p:nvPr/>
        </p:nvPicPr>
        <p:blipFill>
          <a:blip r:embed="rId3">
            <a:alphaModFix/>
          </a:blip>
          <a:stretch>
            <a:fillRect/>
          </a:stretch>
        </p:blipFill>
        <p:spPr>
          <a:xfrm>
            <a:off x="265320" y="1317900"/>
            <a:ext cx="8740004" cy="3977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db1f227a16_0_51"/>
          <p:cNvSpPr txBox="1"/>
          <p:nvPr>
            <p:ph type="title"/>
          </p:nvPr>
        </p:nvSpPr>
        <p:spPr>
          <a:xfrm>
            <a:off x="0" y="0"/>
            <a:ext cx="54861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2800"/>
              <a:t>Snapshots</a:t>
            </a:r>
            <a:endParaRPr sz="2800"/>
          </a:p>
        </p:txBody>
      </p:sp>
      <p:pic>
        <p:nvPicPr>
          <p:cNvPr id="182" name="Google Shape;182;g3db1f227a16_0_51" title="Screenshot 2026-04-30 at 9.59.00 PM.png"/>
          <p:cNvPicPr preferRelativeResize="0"/>
          <p:nvPr/>
        </p:nvPicPr>
        <p:blipFill>
          <a:blip r:embed="rId3">
            <a:alphaModFix/>
          </a:blip>
          <a:stretch>
            <a:fillRect/>
          </a:stretch>
        </p:blipFill>
        <p:spPr>
          <a:xfrm>
            <a:off x="567300" y="1179838"/>
            <a:ext cx="7580774" cy="48268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8"/>
          <p:cNvPicPr preferRelativeResize="0"/>
          <p:nvPr/>
        </p:nvPicPr>
        <p:blipFill rotWithShape="1">
          <a:blip r:embed="rId3">
            <a:alphaModFix/>
          </a:blip>
          <a:srcRect b="0" l="0" r="0" t="0"/>
          <a:stretch/>
        </p:blipFill>
        <p:spPr>
          <a:xfrm>
            <a:off x="100330" y="869950"/>
            <a:ext cx="8906510" cy="5351145"/>
          </a:xfrm>
          <a:prstGeom prst="rect">
            <a:avLst/>
          </a:prstGeom>
          <a:noFill/>
          <a:ln>
            <a:noFill/>
          </a:ln>
        </p:spPr>
      </p:pic>
      <p:sp>
        <p:nvSpPr>
          <p:cNvPr id="188" name="Google Shape;188;p8"/>
          <p:cNvSpPr txBox="1"/>
          <p:nvPr>
            <p:ph type="title"/>
          </p:nvPr>
        </p:nvSpPr>
        <p:spPr>
          <a:xfrm>
            <a:off x="0" y="17231"/>
            <a:ext cx="5486040" cy="879578"/>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Arial"/>
              <a:buNone/>
            </a:pPr>
            <a:r>
              <a:rPr lang="en-US"/>
              <a:t>Conclusion</a:t>
            </a:r>
            <a:endParaRPr/>
          </a:p>
        </p:txBody>
      </p:sp>
      <p:sp>
        <p:nvSpPr>
          <p:cNvPr id="189" name="Google Shape;189;p8"/>
          <p:cNvSpPr txBox="1"/>
          <p:nvPr/>
        </p:nvSpPr>
        <p:spPr>
          <a:xfrm>
            <a:off x="334645" y="1229995"/>
            <a:ext cx="8500110" cy="47498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500"/>
              <a:buFont typeface="Times New Roman"/>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190" name="Google Shape;190;p8"/>
          <p:cNvSpPr txBox="1"/>
          <p:nvPr/>
        </p:nvSpPr>
        <p:spPr>
          <a:xfrm>
            <a:off x="883877" y="6065415"/>
            <a:ext cx="752161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Thank you for your attention. I would be pleased to address any questions you may have.</a:t>
            </a:r>
            <a:endParaRPr b="0" i="0" sz="1400" u="none" cap="none" strike="noStrike">
              <a:solidFill>
                <a:srgbClr val="000000"/>
              </a:solidFill>
              <a:latin typeface="Arial"/>
              <a:ea typeface="Arial"/>
              <a:cs typeface="Arial"/>
              <a:sym typeface="Arial"/>
            </a:endParaRPr>
          </a:p>
        </p:txBody>
      </p:sp>
      <p:sp>
        <p:nvSpPr>
          <p:cNvPr id="191" name="Google Shape;191;p8"/>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2010-04-09T07:36:00Z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3D1ED20B6C4D4066B24EF8AB53B35732_13</vt:lpwstr>
  </property>
  <property fmtid="{D5CDD505-2E9C-101B-9397-08002B2CF9AE}" pid="15" name="KSOProductBuildVer">
    <vt:lpwstr>1033-12.2.0.22549</vt:lpwstr>
  </property>
</Properties>
</file>